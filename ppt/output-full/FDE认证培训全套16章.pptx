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9"/>
  </p:notesMasterIdLst>
  <p:sldIdLst>
    <p:sldId id="579" r:id="rId2"/>
    <p:sldId id="58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  <p:sldId id="408" r:id="rId153"/>
    <p:sldId id="409" r:id="rId154"/>
    <p:sldId id="410" r:id="rId155"/>
    <p:sldId id="411" r:id="rId156"/>
    <p:sldId id="412" r:id="rId157"/>
    <p:sldId id="413" r:id="rId158"/>
    <p:sldId id="414" r:id="rId159"/>
    <p:sldId id="415" r:id="rId160"/>
    <p:sldId id="416" r:id="rId161"/>
    <p:sldId id="417" r:id="rId162"/>
    <p:sldId id="418" r:id="rId163"/>
    <p:sldId id="419" r:id="rId164"/>
    <p:sldId id="420" r:id="rId165"/>
    <p:sldId id="421" r:id="rId166"/>
    <p:sldId id="422" r:id="rId167"/>
    <p:sldId id="423" r:id="rId168"/>
    <p:sldId id="424" r:id="rId169"/>
    <p:sldId id="429" r:id="rId170"/>
    <p:sldId id="430" r:id="rId171"/>
    <p:sldId id="431" r:id="rId172"/>
    <p:sldId id="432" r:id="rId173"/>
    <p:sldId id="433" r:id="rId174"/>
    <p:sldId id="434" r:id="rId175"/>
    <p:sldId id="435" r:id="rId176"/>
    <p:sldId id="436" r:id="rId177"/>
    <p:sldId id="437" r:id="rId178"/>
    <p:sldId id="438" r:id="rId179"/>
    <p:sldId id="439" r:id="rId180"/>
    <p:sldId id="440" r:id="rId181"/>
    <p:sldId id="441" r:id="rId182"/>
    <p:sldId id="442" r:id="rId183"/>
    <p:sldId id="443" r:id="rId184"/>
    <p:sldId id="444" r:id="rId185"/>
    <p:sldId id="445" r:id="rId186"/>
    <p:sldId id="446" r:id="rId187"/>
    <p:sldId id="447" r:id="rId188"/>
    <p:sldId id="448" r:id="rId189"/>
    <p:sldId id="449" r:id="rId190"/>
    <p:sldId id="450" r:id="rId191"/>
    <p:sldId id="451" r:id="rId192"/>
    <p:sldId id="452" r:id="rId193"/>
    <p:sldId id="453" r:id="rId194"/>
    <p:sldId id="454" r:id="rId195"/>
    <p:sldId id="455" r:id="rId196"/>
    <p:sldId id="456" r:id="rId197"/>
    <p:sldId id="457" r:id="rId198"/>
    <p:sldId id="458" r:id="rId199"/>
    <p:sldId id="459" r:id="rId200"/>
    <p:sldId id="464" r:id="rId201"/>
    <p:sldId id="465" r:id="rId202"/>
    <p:sldId id="466" r:id="rId203"/>
    <p:sldId id="467" r:id="rId204"/>
    <p:sldId id="468" r:id="rId205"/>
    <p:sldId id="469" r:id="rId206"/>
    <p:sldId id="470" r:id="rId207"/>
    <p:sldId id="471" r:id="rId208"/>
    <p:sldId id="472" r:id="rId209"/>
    <p:sldId id="473" r:id="rId210"/>
    <p:sldId id="474" r:id="rId211"/>
    <p:sldId id="475" r:id="rId212"/>
    <p:sldId id="476" r:id="rId213"/>
    <p:sldId id="477" r:id="rId214"/>
    <p:sldId id="478" r:id="rId215"/>
    <p:sldId id="479" r:id="rId216"/>
    <p:sldId id="480" r:id="rId217"/>
    <p:sldId id="481" r:id="rId218"/>
    <p:sldId id="482" r:id="rId219"/>
    <p:sldId id="483" r:id="rId220"/>
    <p:sldId id="484" r:id="rId221"/>
    <p:sldId id="485" r:id="rId222"/>
    <p:sldId id="486" r:id="rId223"/>
    <p:sldId id="487" r:id="rId224"/>
    <p:sldId id="488" r:id="rId225"/>
    <p:sldId id="489" r:id="rId226"/>
    <p:sldId id="490" r:id="rId227"/>
    <p:sldId id="491" r:id="rId228"/>
    <p:sldId id="492" r:id="rId229"/>
    <p:sldId id="493" r:id="rId230"/>
    <p:sldId id="494" r:id="rId231"/>
    <p:sldId id="495" r:id="rId232"/>
    <p:sldId id="500" r:id="rId233"/>
    <p:sldId id="501" r:id="rId234"/>
    <p:sldId id="502" r:id="rId235"/>
    <p:sldId id="503" r:id="rId236"/>
    <p:sldId id="504" r:id="rId237"/>
    <p:sldId id="505" r:id="rId238"/>
    <p:sldId id="506" r:id="rId239"/>
    <p:sldId id="507" r:id="rId240"/>
    <p:sldId id="508" r:id="rId241"/>
    <p:sldId id="509" r:id="rId242"/>
    <p:sldId id="510" r:id="rId243"/>
    <p:sldId id="511" r:id="rId244"/>
    <p:sldId id="512" r:id="rId245"/>
    <p:sldId id="513" r:id="rId246"/>
    <p:sldId id="514" r:id="rId247"/>
    <p:sldId id="515" r:id="rId248"/>
    <p:sldId id="516" r:id="rId249"/>
    <p:sldId id="517" r:id="rId250"/>
    <p:sldId id="518" r:id="rId251"/>
    <p:sldId id="519" r:id="rId252"/>
    <p:sldId id="520" r:id="rId253"/>
    <p:sldId id="521" r:id="rId254"/>
    <p:sldId id="522" r:id="rId255"/>
    <p:sldId id="523" r:id="rId256"/>
    <p:sldId id="524" r:id="rId257"/>
    <p:sldId id="525" r:id="rId258"/>
    <p:sldId id="526" r:id="rId259"/>
    <p:sldId id="527" r:id="rId260"/>
    <p:sldId id="528" r:id="rId261"/>
    <p:sldId id="529" r:id="rId262"/>
    <p:sldId id="530" r:id="rId263"/>
    <p:sldId id="531" r:id="rId264"/>
    <p:sldId id="532" r:id="rId265"/>
    <p:sldId id="533" r:id="rId266"/>
    <p:sldId id="534" r:id="rId267"/>
    <p:sldId id="535" r:id="rId268"/>
    <p:sldId id="536" r:id="rId269"/>
    <p:sldId id="537" r:id="rId270"/>
    <p:sldId id="538" r:id="rId271"/>
    <p:sldId id="539" r:id="rId272"/>
    <p:sldId id="540" r:id="rId273"/>
    <p:sldId id="541" r:id="rId274"/>
    <p:sldId id="542" r:id="rId275"/>
    <p:sldId id="543" r:id="rId276"/>
    <p:sldId id="544" r:id="rId277"/>
    <p:sldId id="545" r:id="rId278"/>
    <p:sldId id="546" r:id="rId279"/>
    <p:sldId id="547" r:id="rId280"/>
    <p:sldId id="548" r:id="rId281"/>
    <p:sldId id="549" r:id="rId282"/>
    <p:sldId id="550" r:id="rId283"/>
    <p:sldId id="551" r:id="rId284"/>
    <p:sldId id="552" r:id="rId285"/>
    <p:sldId id="553" r:id="rId286"/>
    <p:sldId id="554" r:id="rId287"/>
    <p:sldId id="555" r:id="rId288"/>
    <p:sldId id="556" r:id="rId289"/>
    <p:sldId id="557" r:id="rId290"/>
    <p:sldId id="558" r:id="rId291"/>
    <p:sldId id="559" r:id="rId292"/>
    <p:sldId id="560" r:id="rId293"/>
    <p:sldId id="561" r:id="rId294"/>
    <p:sldId id="562" r:id="rId295"/>
    <p:sldId id="563" r:id="rId296"/>
    <p:sldId id="564" r:id="rId297"/>
    <p:sldId id="565" r:id="rId298"/>
    <p:sldId id="566" r:id="rId299"/>
    <p:sldId id="567" r:id="rId300"/>
    <p:sldId id="568" r:id="rId301"/>
    <p:sldId id="569" r:id="rId302"/>
    <p:sldId id="570" r:id="rId303"/>
    <p:sldId id="571" r:id="rId304"/>
    <p:sldId id="576" r:id="rId305"/>
    <p:sldId id="577" r:id="rId306"/>
    <p:sldId id="578" r:id="rId307"/>
    <p:sldId id="581" r:id="rId30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22" autoAdjust="0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22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presProps" Target="presProps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viewProps" Target="viewProps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theme" Target="theme/theme1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4812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8.xml"/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2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2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2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2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2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2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2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9.xml"/><Relationship Id="rId1" Type="http://schemas.openxmlformats.org/officeDocument/2006/relationships/notesMaster" Target="../notesMasters/notesMaster1.xml"/></Relationships>
</file>

<file path=ppt/notesSlides/_rels/notesSlide2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2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1.xml"/><Relationship Id="rId1" Type="http://schemas.openxmlformats.org/officeDocument/2006/relationships/notesMaster" Target="../notesMasters/notesMaster1.xml"/></Relationships>
</file>

<file path=ppt/notesSlides/_rels/notesSlide2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2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2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4.xml"/><Relationship Id="rId1" Type="http://schemas.openxmlformats.org/officeDocument/2006/relationships/notesMaster" Target="../notesMasters/notesMaster1.xml"/></Relationships>
</file>

<file path=ppt/notesSlides/_rels/notesSlide2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2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6.xml"/><Relationship Id="rId1" Type="http://schemas.openxmlformats.org/officeDocument/2006/relationships/notesMaster" Target="../notesMasters/notesMaster1.xml"/></Relationships>
</file>

<file path=ppt/notesSlides/_rels/notesSlide2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7.xml"/><Relationship Id="rId1" Type="http://schemas.openxmlformats.org/officeDocument/2006/relationships/notesMaster" Target="../notesMasters/notesMaster1.xml"/></Relationships>
</file>

<file path=ppt/notesSlides/_rels/notesSlide2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8.xml"/><Relationship Id="rId1" Type="http://schemas.openxmlformats.org/officeDocument/2006/relationships/notesMaster" Target="../notesMasters/notesMaster1.xml"/></Relationships>
</file>

<file path=ppt/notesSlides/_rels/notesSlide2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3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3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1.xml"/><Relationship Id="rId1" Type="http://schemas.openxmlformats.org/officeDocument/2006/relationships/notesMaster" Target="../notesMasters/notesMaster1.xml"/></Relationships>
</file>

<file path=ppt/notesSlides/_rels/notesSlide3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3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3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3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_rels/notesSlide3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6.xml"/><Relationship Id="rId1" Type="http://schemas.openxmlformats.org/officeDocument/2006/relationships/notesMaster" Target="../notesMasters/notesMaster1.xml"/></Relationships>
</file>

<file path=ppt/notesSlides/_rels/notesSlide3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412A-4738-B993-C840-FC08EA65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9AA01-FFB9-220F-9A8C-8D74D7288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85D6A-DCDE-D812-7017-0C34AE412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BA87B-8D82-0C42-7D5D-74465EE9B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154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1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1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1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1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1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1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1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1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1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1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1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1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1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1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1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1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1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1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7.xml"/><Relationship Id="rId1" Type="http://schemas.openxmlformats.org/officeDocument/2006/relationships/slideLayout" Target="../slideLayouts/slideLayout1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1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9.xml"/><Relationship Id="rId1" Type="http://schemas.openxmlformats.org/officeDocument/2006/relationships/slideLayout" Target="../slideLayouts/slideLayout1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0.xml"/><Relationship Id="rId1" Type="http://schemas.openxmlformats.org/officeDocument/2006/relationships/slideLayout" Target="../slideLayouts/slideLayout1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1.xml"/><Relationship Id="rId1" Type="http://schemas.openxmlformats.org/officeDocument/2006/relationships/slideLayout" Target="../slideLayouts/slideLayout1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2.xml"/><Relationship Id="rId1" Type="http://schemas.openxmlformats.org/officeDocument/2006/relationships/slideLayout" Target="../slideLayouts/slideLayout1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3.xml"/><Relationship Id="rId1" Type="http://schemas.openxmlformats.org/officeDocument/2006/relationships/slideLayout" Target="../slideLayouts/slideLayout1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4.xml"/><Relationship Id="rId1" Type="http://schemas.openxmlformats.org/officeDocument/2006/relationships/slideLayout" Target="../slideLayouts/slideLayout1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5.xml"/><Relationship Id="rId1" Type="http://schemas.openxmlformats.org/officeDocument/2006/relationships/slideLayout" Target="../slideLayouts/slideLayout1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6.xml"/><Relationship Id="rId1" Type="http://schemas.openxmlformats.org/officeDocument/2006/relationships/slideLayout" Target="../slideLayouts/slideLayout1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7.xml"/><Relationship Id="rId1" Type="http://schemas.openxmlformats.org/officeDocument/2006/relationships/slideLayout" Target="../slideLayouts/slideLayout1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8.xml"/><Relationship Id="rId1" Type="http://schemas.openxmlformats.org/officeDocument/2006/relationships/slideLayout" Target="../slideLayouts/slideLayout1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9.xml"/><Relationship Id="rId1" Type="http://schemas.openxmlformats.org/officeDocument/2006/relationships/slideLayout" Target="../slideLayouts/slideLayout1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0.xml"/><Relationship Id="rId1" Type="http://schemas.openxmlformats.org/officeDocument/2006/relationships/slideLayout" Target="../slideLayouts/slideLayout1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1.xml"/><Relationship Id="rId1" Type="http://schemas.openxmlformats.org/officeDocument/2006/relationships/slideLayout" Target="../slideLayouts/slideLayout1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2.xml"/><Relationship Id="rId1" Type="http://schemas.openxmlformats.org/officeDocument/2006/relationships/slideLayout" Target="../slideLayouts/slideLayout1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3.xml"/><Relationship Id="rId1" Type="http://schemas.openxmlformats.org/officeDocument/2006/relationships/slideLayout" Target="../slideLayouts/slideLayout1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4.xml"/><Relationship Id="rId1" Type="http://schemas.openxmlformats.org/officeDocument/2006/relationships/slideLayout" Target="../slideLayouts/slideLayout1.xml"/></Relationships>
</file>

<file path=ppt/slides/_rels/slide2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5.xml"/><Relationship Id="rId1" Type="http://schemas.openxmlformats.org/officeDocument/2006/relationships/slideLayout" Target="../slideLayouts/slideLayout1.xml"/></Relationships>
</file>

<file path=ppt/slides/_rels/slide2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6.xml"/><Relationship Id="rId1" Type="http://schemas.openxmlformats.org/officeDocument/2006/relationships/slideLayout" Target="../slideLayouts/slideLayout1.xml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7.xml"/><Relationship Id="rId1" Type="http://schemas.openxmlformats.org/officeDocument/2006/relationships/slideLayout" Target="../slideLayouts/slideLayout1.xml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8.xml"/><Relationship Id="rId1" Type="http://schemas.openxmlformats.org/officeDocument/2006/relationships/slideLayout" Target="../slideLayouts/slideLayout1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9.xml"/><Relationship Id="rId1" Type="http://schemas.openxmlformats.org/officeDocument/2006/relationships/slideLayout" Target="../slideLayouts/slideLayout1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0.xml"/><Relationship Id="rId1" Type="http://schemas.openxmlformats.org/officeDocument/2006/relationships/slideLayout" Target="../slideLayouts/slideLayout1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1.xml"/><Relationship Id="rId1" Type="http://schemas.openxmlformats.org/officeDocument/2006/relationships/slideLayout" Target="../slideLayouts/slideLayout1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2.xml"/><Relationship Id="rId1" Type="http://schemas.openxmlformats.org/officeDocument/2006/relationships/slideLayout" Target="../slideLayouts/slideLayout1.xml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3.xml"/><Relationship Id="rId1" Type="http://schemas.openxmlformats.org/officeDocument/2006/relationships/slideLayout" Target="../slideLayouts/slideLayout1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4.xml"/><Relationship Id="rId1" Type="http://schemas.openxmlformats.org/officeDocument/2006/relationships/slideLayout" Target="../slideLayouts/slideLayout1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5.xml"/><Relationship Id="rId1" Type="http://schemas.openxmlformats.org/officeDocument/2006/relationships/slideLayout" Target="../slideLayouts/slideLayout1.xml"/></Relationships>
</file>

<file path=ppt/slides/_rels/slide3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6.xml"/><Relationship Id="rId1" Type="http://schemas.openxmlformats.org/officeDocument/2006/relationships/slideLayout" Target="../slideLayouts/slideLayout1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0" y="1828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5C6BC0">
                    <a:alpha val="18000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FDE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932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5CDEC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教科书配套课件 · 全套 16 章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43000" y="2468880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2697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D9E0F5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西岭市民服务平台单案例贯穿 · 323 页 · 五个实操总分总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97280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35024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572768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10512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48256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0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23744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61488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999232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36976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74720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12464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50208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87952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25696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406908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9728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5CDEC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 × 施工力 —— 从卖人力到卖能力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课程核心理念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4008" cy="13716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卖人力 → 卖能力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FDE 与外包 / 咨询：做完项目，平台有没有增长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39" y="1280160"/>
            <a:ext cx="4114801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64008" cy="13716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508760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1536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人能判断 · AI 能执行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39" y="2057400"/>
            <a:ext cx="38862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主责判断、Delta 主责施工——判断归人、执行归 AI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64008" cy="137160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3017520"/>
            <a:ext cx="411480" cy="411480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044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四条红线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" y="3566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数据不出域 · 答案可追溯 · 敏感件零漏判 · 人能判断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45152" y="27889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788920"/>
            <a:ext cx="64008" cy="137160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92040" y="3017520"/>
            <a:ext cx="411480" cy="411480"/>
          </a:xfrm>
          <a:prstGeom prst="ellipse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3044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从最简单开始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92040" y="3566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技术选型遵循</a:t>
            </a:r>
            <a:r>
              <a:rPr lang="en-US" altLang="zh-CN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</a:t>
            </a:r>
            <a:r>
              <a:rPr lang="zh-CN" alt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r>
              <a:rPr lang="en-US" sz="1150" dirty="0" err="1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够用即止，升级必须带证据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是什么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· 三层含义 · 三重角色 · 卖人力→卖能力 · 五大鸿沟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讲清 FDE 产生于哪三重结构性矛盾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47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FDE 的定义、一句箴言与三层含义（岗位 / 团队 / 方法论）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054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讲清“三重角色”为何必须融合，并守住“工程师身份是内核”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9125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638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用“从卖人力到卖能力”标准区分 FDE 与外包 / 咨询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221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AI 时代大模型落地的五大鸿沟，并解释它们为什么指向 FDE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1.1–1.2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1.1–1.2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为什么会有 FDE：三重矛盾与定义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三重矛盾：SaaS 病 · 外包病 · 数据不出域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= 带核心平台驻场 · 深度定制 · 能力回注（“胶水”）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演进：从 Palantir 到 AI 行业共识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一个结构性矛盾：现成软件永远差那么一点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383280" cy="1024128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4864" cy="102412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标准化产物（SaaS 病）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5636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高复用 · 低适配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复杂痛点够不到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客户削足适履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1472184"/>
            <a:ext cx="777240" cy="384048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3383280" cy="1024128"/>
          </a:xfrm>
          <a:prstGeom prst="rect">
            <a:avLst/>
          </a:prstGeom>
          <a:solidFill>
            <a:srgbClr val="FDECE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54864" cy="1024128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3865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纯定制开发（外包病）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7340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高适配 · 低复用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每单从头造轮子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无法规模化盈利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642616"/>
            <a:ext cx="777240" cy="384048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3383280" cy="1024128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54864" cy="10241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570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核心数据不能出域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9044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越核心越敏感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现场才是最安全的处理场所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系统必须私有化部署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3813048"/>
            <a:ext cx="777240" cy="384048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37760" y="1783080"/>
            <a:ext cx="3657600" cy="1828800"/>
          </a:xfrm>
          <a:prstGeom prst="rect">
            <a:avLst/>
          </a:prstGeom>
          <a:solidFill>
            <a:srgbClr val="3949AB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2064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 × 现场定制 × 能力回注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三重矛盾的同时解法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是三重矛盾的“同时解法”，不是三选一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既保盈利（平台复用）· 又保效果（现场适配）· 还保合规（就地处理）——三者同时拿。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606040" cy="137160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保盈利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072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标准平台复用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一次投入、长期复用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240280"/>
            <a:ext cx="2606040" cy="137160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224028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保效果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8072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现场定制适配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贴住复杂痛点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606040" cy="137160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224028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保合规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8072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就地处理数据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核心数据不出域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与驻场外包 / 实施 / 售后的本质区别：解决的是结构性难题，不是“产品没装好”的交付问题。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一个激进的决定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面对结构性矛盾，Palantir 没有造更通用的标准产品，也没有陷入纯定制，而是——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把工程师带着核心平台能力，直接派驻客户现场，做深度定制部署。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Deployed Engineer（前沿部署工程师，简称 FDE）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63239"/>
            <a:ext cx="8046720" cy="11453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063239"/>
            <a:ext cx="54864" cy="1145345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“胶水”箴言（业界常见概括）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4930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“FDEs are the glue between our products and our customers.”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（FDE 是连接“我们的产品”与“我们的客户”之间的胶水）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20772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420772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42077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FDSE 招聘 JD 口径：embedding talented engineers directly with our customers to tackle their most pressing challenges head-on（直接派驻工程师，解决最紧迫挑战）。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身边的理解——“水电工”比喻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41005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41005"/>
            <a:ext cx="54864" cy="10515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32445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装修图纸（设计图）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0" y="1132445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/ 模型买好，方案画好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84005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184005"/>
            <a:ext cx="54864" cy="105156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275445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水电工（FDE）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2275445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接通线路、让水流到每个龙头——“AI 的水电”接通到客户现场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27005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327005"/>
            <a:ext cx="54864" cy="105156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418445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装不完的装修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3418445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没有水电工，装修停在图纸上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70005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470005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470005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产品标准化、需求按现场生长——中间的缝隙与接口，就是 FDE 的战场。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时间线：从 Palantir 到行业共识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85292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意义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2003–2005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Palantir 带核心平台驻场深度定制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FDE 模式的业界通常归因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Airbus 问题 → 行业平台 Skywise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“现场定制→平台回注”成型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航空制造、医疗等行业验证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模式被行业验证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DeployCo 派驻工程师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40 亿美元部署单元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 企业服务团队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 AI 公司集体跟进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22296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322296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32229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正在成为整个 AI 行业的共识（信息截至 2026 年）。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1.3–1.4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1.3–1.4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是谁：三层含义与三重角色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三层含义：岗位 / 团队 / 方法论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三重角色：全栈工程师 × 业务顾问 × 产品经理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方法论是形、工程师是神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的三层含义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6949440" cy="64008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的三层含义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51660" y="1828800"/>
            <a:ext cx="0" cy="41148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0" cy="41148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29500" y="1828800"/>
            <a:ext cx="0" cy="41148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2606040" cy="160020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350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岗位（角色）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驻扎客户现场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串联产品与客户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我做的是不是 FDE 的活？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2240280"/>
            <a:ext cx="2606040" cy="160020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37560" y="224028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47288" y="2350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团队（组织模式）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一组 FDE 组成作战单元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（Echo/Delta/Engineering）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我们团队怎么搭？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2606040" cy="160020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224028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36208" y="2350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方法论（交付范式）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+ 现场定制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能力回注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项目该怎么推进？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197445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197445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197445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三层含义贯穿全书骨架：第 4 章展开“团队”，“方法论”是全书正文核心。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三层含义对比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626241"/>
              </p:ext>
            </p:extLst>
          </p:nvPr>
        </p:nvGraphicFramePr>
        <p:xfrm>
          <a:off x="548640" y="1234440"/>
          <a:ext cx="8046720" cy="20116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5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回答的关键问题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一种角色定位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一个具体的人，驻扎客户现场，串联产品与客户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我做的是不是 FDE 的活？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一种组织模式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一组 FDE 组成“特种作战单元”（Echo / Delta / Engineering 分工）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我们团队怎么搭？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一种交付范式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一整套“把非标痛点变成平台能力”的做事方法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项目该怎么推进？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93938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693938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69393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先分清两个概念：1.3 三层含义讲“FDE 这个词”的组织层次；1.4 三重角色讲“FDE 这个人”要融合的专业能力——一个是词的层级，一个是人的能力。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三重角色融合：工程师 × 业务顾问 × 产品经理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06040" cy="210312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全栈工程师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56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 · 接数据 · 搭系统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现场真正“做出来”，不是只写方案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606040" cy="210312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23444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47288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业务顾问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856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读业务 · 挖真痛点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真需求藏在模糊表达背后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06040" cy="210312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18562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定边界 · 抽象可复用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2743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让定制反哺平台、驱动飞轮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7490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三种角色“三位一体”压在一个岗位上——形成最短闭环。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343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澄清：三位一体是“团队”整体画像，非要求个人全能（分工见第 4 章）。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为什么三位一体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28800" cy="64008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23160" y="1481328"/>
            <a:ext cx="228600" cy="256032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828800" cy="64008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定义问题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481328"/>
            <a:ext cx="228600" cy="256032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828800" cy="64008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做出方案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81328"/>
            <a:ext cx="228600" cy="256032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828800" cy="64008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落地验证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 / 一个小队走完完整闭环——无需售前、实施、交付间反复交接翻译。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8046720" cy="59436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64008" cy="5943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2743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“方法论是形，工程师是神”——三重角色融合 ≠ 让 FDE 变咨询顾问。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能成立，正因为它是一群能写生产级代码的真工程师——把方法论交给不会写代码的角色落地，就会退化成 PPT 咨询。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FDECore 的引擎：“人肉反向传播”——平台能力靠一个个种子项目反复喂反馈、逐轮收敛。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核心分野：从“卖人力”到“卖能力”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外包、咨询、FDE 都在“帮助客户”，但本质不同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一句话判断标准：项目做完，公司平台能力增长了吗？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最危险的事：FDE 悄悄退化成外包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 · 咨询 · FDE：本质对比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925344"/>
              </p:ext>
            </p:extLst>
          </p:nvPr>
        </p:nvGraphicFramePr>
        <p:xfrm>
          <a:off x="548640" y="1188720"/>
          <a:ext cx="804672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驻场外包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传统咨询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FDE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客户定制孤立系统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建议方案 / 报告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生产环境的定制化系统集成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 / IP 归属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归客户，无法复用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归咨询公司方法论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回注己方平台，越做越强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对己方意义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赚人天差价（卖人力）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赚洞察费（卖洞见）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完善平台、驱动规模化（卖能力）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19022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919022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91902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判断标准：项目做完，公司只赚这一次人天费，还是平台能力增长了？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卖人力 vs 卖能力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69164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6916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卖人力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按人天计价，做完就散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能力不沉淀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边际成本不下降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69164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54864" cy="169164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卖能力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经验、通用模块回注平台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一次投入、长期复用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越做越省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140611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两类读者的落点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52091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552091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552091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乙方：能力沉淀卖出更高价值、驱动跨客户复用——“卖能力”即平台资产化。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9019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119019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119019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甲方内部团队：沉淀内部可复用能力中台，一次交付复用到多个分行 / 业务线。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" y="46360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后续章节中的“客户”＝外部客户或内部被服务的业务部门。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最危险的地方：极易“退化”回外包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二者现场几乎肉眼难辨——差异不在“当下做什么”，而在“做完之后往哪走”：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931920" cy="109728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" cy="109728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把通用经验抽象、沉淀回平台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3931920" cy="1097280"/>
          </a:xfrm>
          <a:prstGeom prst="rect">
            <a:avLst/>
          </a:prstGeom>
          <a:solidFill>
            <a:srgbClr val="FDECE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54864" cy="109728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2212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写完就留在客户那里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销售与交付压力最容易让 FDE 退化成外包：连续几个项目平台毫无增长、仍在重复造轮子——那它已不是 FDE，而是昂贵的驻场外包队。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1.6–1.7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1.6–1.7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时代的 FDE：五大鸿沟与经典案例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五大鸿沟：模型≠产品 · 合规 · 微调工程 · 集成 · 搁板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案例：零件被卡住 · Airbus→Skywise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没有让 FDE 过时，反而放大判断力的稀缺价值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从“有模型”到“业务变好”的五道鸿沟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47548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864" cy="47548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515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有模型能力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91840" y="1051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把模型当原材料卖出去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8046720" cy="47548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600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模型 ≠ 产品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91840" y="16002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有模型 ≠ 有解决业务问题的产品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8046720" cy="47548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148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数据合规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2148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企业核心数据不能出域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8046720" cy="47548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微调与工程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91840" y="26974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/ Prompt 需深度结合专有知识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8046720" cy="47548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246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系统集成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91840" y="3246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需嵌入已有 CRM / ERP 才有闭环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8046720" cy="475488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54864" cy="475488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7947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搁板软件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91840" y="37947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没人推动变革，好系统也被束之高阁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8046720" cy="475488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864" cy="475488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43434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业务真正变好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91840" y="43434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落地、连接、变革全部打通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五大鸿沟：是什么 · 典型症状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559028"/>
              </p:ext>
            </p:extLst>
          </p:nvPr>
        </p:nvGraphicFramePr>
        <p:xfrm>
          <a:off x="548640" y="1068557"/>
          <a:ext cx="8046720" cy="30175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2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5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鸿沟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典型症状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 ≠ 产品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有模型能力 ≠ 有解决业务问题的产品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模型很聪明，但不知为客户解决什么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数据合规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客户数据不能随便给公有云 / 外部模型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政企“数据不出域”，公有云大模型免谈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微调与工程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想把模型调成“懂领域 / 懂客户”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需检索增强、Prompt 需结合专有知识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系统集成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要嵌入客户已有 CRM / ERP / 业务流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装个断点软件没用，要融进真实流程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搁板软件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系统做出来却没人用 / 用不起来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“演示惊艳、生产翻车”“上线即搁板”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14677"/>
            <a:ext cx="8046720" cy="54864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314677"/>
            <a:ext cx="64008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4314677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这五道鸿沟没有一道是“再多几层模型能力”能解决的——</a:t>
            </a:r>
            <a:r>
              <a:rPr lang="en-US" sz="120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它们全是落地、连接、变革问题</a:t>
            </a: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模型负责“写得快”，FDE 负责“知道该写什么、写了有没有人用、用起来有没有价值”。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274320"/>
            <a:ext cx="8501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案例1：一个批次零件被卡住，受影响飞机如何瞬间浮出？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" cy="7315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场景：一批紧固件在海关被卡住——这批零件用在哪些飞机上？哪些总装会被拖累？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8046720" cy="68580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4864" cy="68580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020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传统方式（吃力）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29514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跨多张表多次 JOIN 回溯血缘——等算清楚，总装线往往已停。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24912"/>
            <a:ext cx="8046720" cy="685800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54864" cy="68580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779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在现场（先建网）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05409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先把“业务实体关系”建成可操作的网：零件→工位→飞机→质检员，各段关系清晰。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8046720" cy="685800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54864" cy="6858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538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事件发生时（瞬间联动）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81304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“紧固件被卡住”→ 系统瞬间联动，受影响飞机全部标红——无需临时联表。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70832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37083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核心价值：把“看不见的业务连带关系”变成“一秒钟就能决策”的现场能力——交付的不是报表，而是“遇突发、当场反应”的能力。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案例2：一个客户的问题，变成一个行业的平台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53903"/>
            <a:ext cx="8046720" cy="77724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27055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A350 客机增产 33%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0" y="1145343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 万个零件 · 数百个团队 · 多国生产线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 / 零件 / 工单 / 质检数据散落各系统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8303"/>
            <a:ext cx="8046720" cy="512064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68303"/>
            <a:ext cx="54864" cy="5120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68303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· 问题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0" y="1968303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紧急增产 A350 33%，生产数据散落各系统。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53519"/>
            <a:ext cx="8046720" cy="512064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553519"/>
            <a:ext cx="54864" cy="5120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553519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驻场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2553519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接入数据建统一视图，实现 33% 增产。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38735"/>
            <a:ext cx="8046720" cy="512064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138735"/>
            <a:ext cx="54864" cy="5120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38735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但故事没有结束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3138735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数据碎片化、排产靠经验——是航空制造业的通用痛点。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23951"/>
            <a:ext cx="8046720" cy="512064"/>
          </a:xfrm>
          <a:prstGeom prst="rect">
            <a:avLst/>
          </a:prstGeom>
          <a:solidFill>
            <a:srgbClr val="EC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723951"/>
            <a:ext cx="54864" cy="5120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723951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平台回注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3723951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反馈产品团队，升级为面向全行业的 Skywise。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391463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4391463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391463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“反馈闭环”（能力回注）的终极展示：一个客户的问题 → 识别可复用模式 → 行业平台——“卖人力到卖能力”的活例子。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848663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来源：Palantir 官网 Impact | Airbus and Skywise（palantir.com/impact/airbus），信息截至 2026 年。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是什么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三重结构性矛盾：SaaS 病 / 外包病 / 数据不出域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定义与三层含义：岗位 / 团队 / 方法论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三重角色必须融合——工程师身份是内核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卖人力 → 卖能力：区分 FDE 与外包 / 咨询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五大鸿沟（模型≠产品 / 合规 / 微调 / 集成 / 搁板）指向 FDE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FDE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死亡螺旋 · 四种交付模式 · 能力回注飞轮 · 经验曲线 · 财务证据 · 诊断量表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描述传统项目制的“死亡螺旋”，并解释为何它是“结构性”而非“管理不善”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47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SaaS / 咨询 / 外包 / FDE+平台四种交付模式，说清 FDE“既要适配又要复用”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054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用“能力回注飞轮 + 经验曲线（Cₙ = C₁ × n⁻ᵅ）”解释 FDE“越做越省”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9125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638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记忆一组 Palantir 财务数据（毛利率约 67%→82.4%、净利率转正、NRR）佐证模式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221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8 条教材诊断量表鉴别“真伪 FDE”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前置知识：第 1 章（FDE 定义、“卖人力 vs 卖能力”判断标准）。本章用经济学证明 FDE 模式成立。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死亡螺旋：传统项目制的结构性困境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一个自我强化的恶性循环——局部理性、全局自杀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问题不在执行层，而在结构层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一个痛感场景：用规模换收入，却换不来资产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项目制交付的死亡螺旋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132320" cy="438912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4864" cy="438912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客户定制需求多且分散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7132320" cy="438912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54864" cy="43891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企业投入大量研发进行定制开发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7132320" cy="438912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54864" cy="43891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10312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交付周期长 · 成本失控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7132320" cy="438912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54864" cy="438912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60604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项目利润率（毛利）极低甚至亏损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7132320" cy="438912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54864" cy="438912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10896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无力投入核心平台研发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7132320" cy="438912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54864" cy="438912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61188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产品竞争力下降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7132320" cy="438912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54864" cy="438912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11480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只能靠低价和更深度的定制抢单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0" y="1280160"/>
            <a:ext cx="0" cy="3291840"/>
          </a:xfrm>
          <a:prstGeom prst="line">
            <a:avLst/>
          </a:prstGeom>
          <a:noFill/>
          <a:ln w="25400">
            <a:solidFill>
              <a:srgbClr val="D94F4F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82128" y="14630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94F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自我强化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94F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6680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2C3E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局部理性、全局自杀：每绕一圈，定制更重、毛利更薄、离平台更远。</a:t>
            </a:r>
            <a:endParaRPr lang="en-US" sz="1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为什么是“结构性”而非“管理不善”？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74769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7476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1990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需求分散 → 定制开发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34440" y="129422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需求合理、销售必须接——局部看是对的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733137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33137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67827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定制开发 → 周期长、成本失控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4440" y="195259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每单从头造轮子，成本随项目数线性甚至超线性增长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391505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39150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336641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成本失控 → 毛利极低甚至亏损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34440" y="261096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为中标不得不压价，利润被两头挤压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049873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04987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5009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无利润 → 无力投入平台研发（最致命一环）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34440" y="326932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没钱投“一次开发、多次复用”的平台——平台是唯一打破线性成本的东西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708241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70824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65337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无平台 → 竞争力下降 → 只能更低价、更深定制抢单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3927697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回到第 1 步——每绕一圈，定制更重、离平台更远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30617"/>
            <a:ext cx="8046720" cy="54864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430617"/>
            <a:ext cx="64008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430617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自我强化的死循环：越缺钱越不敢投平台、越不投越堆定制、越堆越缺钱——单靠“更努力”走不出去，只能从结构上切断某一环。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一个痛感场景：同一类问题，解决了两遍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6002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081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客户交付完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团队刚交付完 A 客户的定制系统；A 的代码写死了字段和流程，几乎无法复用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54864" cy="16002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4081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客户来了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4720" y="18105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几乎一样的需求，却只能推倒重来——同一类问题解决了两遍、收了两份人天钱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54864" cy="160020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4081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个客户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181051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依然要从零开始——什么都没沉淀出资产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收入在增长，但公司什么都没积累下来——这就是项目制的本质陷阱：用规模换收入，却换不来资产。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2C3E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模式则把这条恶性螺旋反转为正向飞轮：现场解决问题的同时把定制代码提炼为通用组件，下个项目复用更快更省，省下的利润再投入更强大的平台。</a:t>
            </a:r>
            <a:endParaRPr lang="en-US" sz="1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四种交付模式全景对比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SaaS / 传统咨询 / 项目外包 / FDE + 平台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最反直觉的一行：适配度 vs 复用率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一句话抓住四种模式的本质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四种交付模式对比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996022"/>
              </p:ext>
            </p:extLst>
          </p:nvPr>
        </p:nvGraphicFramePr>
        <p:xfrm>
          <a:off x="227427" y="1098451"/>
          <a:ext cx="8689146" cy="3017520"/>
        </p:xfrm>
        <a:graphic>
          <a:graphicData uri="http://schemas.openxmlformats.org/drawingml/2006/table">
            <a:tbl>
              <a:tblPr/>
              <a:tblGrid>
                <a:gridCol w="1126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3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6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 SaaS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传统咨询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项目外包 / 定制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FDE + 平台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客户适配度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低（客户削足适履）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高（定制方案）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极高（完全按需）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高（平台 + 现场定制）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研发复用率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极高（100% 一套代码）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中（复用框架）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极低（每单造轮子）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高（70% 平台 + 30% 回注）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边际成本趋势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趋近于零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线性（高级人头）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线性（开发人头）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先高后低、经验曲线递减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毛利率趋势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高且稳定（70–90%）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稳定（40–60%）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低且脆弱（10–30%）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从低到高（成熟期 80%+）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商业模式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纯订阅制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咨询服务费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人天计费或固定项目费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高价值许可费（授权 + 首期部署）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574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注：毛利区间与 70%/30% 比例均为教材教学假设（示意），对外引用请注明。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462006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最反直觉的一行：适配度 vs 复用率——传统认知里二者天然矛盾，只能二选一。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破解“适配 × 复用”二选一悖论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06040" cy="150876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624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SaaS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低适配 · 高复用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一套代码服务所有客户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客户削足适履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606040" cy="150876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3624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项目外包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76479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高适配 · 低复用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完全按客户需求定制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几乎零复用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06040" cy="150876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3624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+ 平台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76479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高适配 · 高复用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平台保复用 + 现场定制保适配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851637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的分层破解：平台底座（保复用）＋ 现场定制集成（保适配）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63117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263117"/>
            <a:ext cx="54864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263117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底层约 70% 靠平台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66160" y="3263117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数据引擎、本体层、通用组件标准化、跨客户复用——贡献复用率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02029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702029"/>
            <a:ext cx="54864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702029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上层约 30% 靠现场定制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66160" y="3702029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贴合每个客户的具体流程、数据、界面——贡献适配度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40941"/>
            <a:ext cx="8046720" cy="402336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140941"/>
            <a:ext cx="54864" cy="402336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140941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 不白写：回注平台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66160" y="4140941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通用部分回注为平台能力，下一个客户的“70%”变 75%、80%——复用率动态上升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616429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4616429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4616429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上述 70% / 30% 比例均为教材教学假设（示意）——真正关键是“复用率本身是动态上升的”。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一句话抓住四种模式的本质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50876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" cy="15087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538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卖“标准品”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边际成本趋零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但触达不了复杂痛点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31920" cy="150876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54864" cy="150876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538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咨询卖“洞见”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89280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PPT 和方法论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但不落地为可运行系统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50876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54864" cy="150876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145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外包卖“人天”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完全定制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公司什么资产都沉淀不下来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3931920" cy="150876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54864" cy="150876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3145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FDE+平台卖“能力”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8444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平台底座保复用 + 现场定制保适配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定制再回注平台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能力回注飞轮与经验曲线：FDE 为什么“越做越省”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把死亡螺旋反转为正向飞轮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飞轮真正转的是“价值 + 杠杆”双维度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经验曲线：Cₙ = C₁ × n⁻ᵅ，越做越省的经济学规律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正向飞轮：把死亡螺旋反转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132320" cy="530352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4864" cy="53035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客户现场解决问题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120640" y="11430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在真实场景交付结果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764792"/>
            <a:ext cx="7132320" cy="530352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764792"/>
            <a:ext cx="54864" cy="530352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7647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提炼定制中的通用组件（能力回注）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20640" y="17647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→ 抽象 → 集成 → 验证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386584"/>
            <a:ext cx="7132320" cy="530352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386584"/>
            <a:ext cx="54864" cy="530352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38658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下个项目复用：更快 · 更省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20640" y="238658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部署成本随 n 幂律下坠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008376"/>
            <a:ext cx="7132320" cy="530352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008376"/>
            <a:ext cx="54864" cy="530352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利润再投入平台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20640" y="300837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省下的钱反哺平台研发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7132320" cy="530352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3630168"/>
            <a:ext cx="54864" cy="530352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363016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平台更强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20640" y="36301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覆盖更多通用能力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1234440"/>
            <a:ext cx="0" cy="3108960"/>
          </a:xfrm>
          <a:prstGeom prst="line">
            <a:avLst/>
          </a:prstGeom>
          <a:noFill/>
          <a:ln w="25400">
            <a:solidFill>
              <a:srgbClr val="5B7A5B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82128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*图 2-3：能力回注飞轮——把死亡螺旋反转为正向飞轮（自上而下成环）*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回注资产不只是代码：对象模型、关系模型、动作模式、治理规则——业务语义同样是可回注、可复用的资产（教材提炼）。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飞轮真正“转”的是两个维度同步推进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64592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64592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081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价值维度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结果价值越来越大：客户在用、变好、增购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64592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54864" cy="16459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081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杠杆维度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92040" y="19019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交付越来越容易：代码越少、时间越短；组件越通用，下个交付越轻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8046720" cy="77724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64008" cy="7772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2461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缺一不可：只盯价值 → 退回人力硬扛的外包；只盯杠杆 → 为抽象而抽象。价值与杠杆同步推进，飞轮才算真转。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经验曲线：FDE 越做越省的经济学规律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0" y="1234440"/>
            <a:ext cx="6217920" cy="914400"/>
          </a:xfrm>
          <a:prstGeom prst="rect">
            <a:avLst/>
          </a:prstGeom>
          <a:solidFill>
            <a:srgbClr val="2C3E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3040" y="1234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B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Cₙ = C₁ × n⁻ᵅ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交付第 n 个客户的部署成本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2880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880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交付第 1 个客户的极高初始成本（此时 FDE 需大量写非标代码）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累计客户交付数量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3886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学习率参数——由 FDE 团队将非标经验抽象回注给核心平台的速度决定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经验曲线效应（Experience Curve Effect，源自波士顿咨询总结的行业经验规律）——本书用作解释 FDE“越做越省”的框架，教材提炼、非厂商官方公式。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边际成本递减效应示例（示意）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项目次序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现场 FDE 人数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实施周期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平台覆盖度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定制代码量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项目利润率（示意）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个项目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个月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-20%（战略亏损）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个项目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个月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10 个项目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 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个月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20 个项目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+85%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5701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同样的项目：一个是越做越省（FDE 成本按 n⁻ᵅ 快速下坠），一个是越做越贵（外包无平台复用、成本持平甚至抬头）——两条线不断张开的“剪刀差”就是平台沉淀带来的成本红利。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4528621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口径说明：上表为示意性单项目核算（把 FDE 现场人力计入后，某项目自身的盈亏）——与 2.4 节 Palantir 公司整体毛利率（软件毛利率，通常不为负）是两个不同口径，勿混淆。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两种“勇气”的承接反转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82880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" cy="18288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624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启动期（约前 5 个）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稀缺：行业 Know-how · 种子逻辑：广撒种赌通用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敢于为通用性亏钱（抢种子）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31920" cy="182880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54864" cy="182880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3624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01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稀缺：交付带宽 · 杠杆逻辑：精挑选收割红利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2377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敢于为通用性拒单（防稀释）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64008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79" y="3337560"/>
            <a:ext cx="76833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启动期敢为通用性亏钱（怕错过种子），成熟期敢为通用性拒单（怕稀释资产）——两种矛盾的勇气要同时具备。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1148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乙方为什么愿意？切换成本：业务逻辑固化进系统后客户几乎无法迁移——“落地生根”带来公用事业般稳定 + 软件毛利；外包相反，人走价值走。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2.4–2.5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2.4–2.5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财务证据与真伪鉴别：从数据到判断标准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Palantir：毛利率 67%→82.4% · 净利率 2023 转正 · NRR&gt;100%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启示：早期亏钱换 Know-how，后期非线性回报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条教材诊断量表鉴别真伪 FDE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084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第一阶段（2018–2022）：毛利率证明“这不是外包”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0175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整体毛利率（GAAP）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核心驱动因素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政府合同 + 平台订阅占比高，净亏损主要在人力与研发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收入结构变化、实施扩张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组件复用提升、收入结构调整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平台复用扩大、FDE 人效改善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本体/语义层复用扩大、实施效率改善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343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2018–2020 已站稳 67–72%，远高于外包 10–30%——“不是外包”起点即成立；2021 起爬升至 78.5%。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注：GAAP 整体毛利率，按 SEC 备案复算（约数）；驱动因素为教材解释假说（财报不披露归因）；GAAP 毛利率 ≠ 项目级毛利，口径不可混用。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第二阶段（2023–2025）：飞轮威力转移到盈利能力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5146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经营利润率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净利率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营收（亿美元）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营收增速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-8.5%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+23.6%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+9.8%（首次转正）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+10.8%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+16.3%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+31.6%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+36.5%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44.8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+56.2%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24297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924297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3924297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最反直觉、最有说服力的一点：2024→2025 营收增速不降反升（+28.8%→+56.2%），同时经营利润率翻了近三倍（10.8%→31.6%）——平台底座沉淀得越厚，新增收入边际成本越低，规模越大反而越赚钱。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701537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注：数据按各财年 SEC 10-K 复算（约数），信息截至 FY2025（2026 年 8 月）；精确值以各财年 10-K 原文为准。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还有两组数据与“落地生根、卖能力”相互印证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210312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21031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净收入留存率（NRR）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老客户今年比去年多付多少；&gt;100% = 持续增购。FY2021 总体 131%、FY2022 115%、2024 回升至 ~118%——佐证“先用快赢切入、再横向复制”的扩张逻辑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210312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54864" cy="210312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单客户产出持续走高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883664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规模化不是堆客户数，而是做深单客户。Top 20 客户近 12 个月平均收入：2024 约 6460 万美元 → 2025 约 9390 万美元（财报披露约数）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 ≠ 因果：财务趋势只能说明与“平台复用带动利润率上升”假说一致，不能单凭财务数据证明“FDE 模式导致了利润率提升”——对外引用勿表述为“财务数据证明 FDE 有效”。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NRR 口径提示：Palantir 曾对 NRR 统计口径做过调整，跨期数值并非严格可比；对外引用以最新年度财报披露口径为准。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To B / To G 技术服务商的启示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765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早期容忍较低毛利率、敢于向客户现场派驻顶尖人才（FDE），是获取行业 Know-how 和核心数据的必经之路。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3108960" cy="10058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 · 起点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72.2% 毛利 · 大额净亏损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2651760"/>
            <a:ext cx="731520" cy="32004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24528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约七年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3108960" cy="10058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· 成熟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82.4% 毛利 · 36.5% 净利率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046720" cy="402336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45720" cy="402336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6576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只要建立“现场定制 → 平台抽象”的坚实反馈管道，后期规模化盈利水到渠成——飞轮启动慢，但一旦转起来，回报呈非线性（幂律式）增长。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Palantir 用了约七年走完这条路（信息截至 FY2025，2026 年 8 月）。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核心看“做完项目留下什么”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140302"/>
              </p:ext>
            </p:extLst>
          </p:nvPr>
        </p:nvGraphicFramePr>
        <p:xfrm>
          <a:off x="548640" y="1371600"/>
          <a:ext cx="8046720" cy="1005840"/>
        </p:xfrm>
        <a:graphic>
          <a:graphicData uri="http://schemas.openxmlformats.org/drawingml/2006/table">
            <a:tbl>
              <a:tblPr/>
              <a:tblGrid>
                <a:gridCol w="1426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8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7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 FDE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做完项目留下什么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只留给客户一个孤立系统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带回一些经验，但无法复用（留在个人身上）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去掉客户信息后，把通用经验沉淀为可复用模板 / Skill / 平台能力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78599"/>
            <a:ext cx="8046720" cy="68580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2878599"/>
            <a:ext cx="64008" cy="685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878599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外包留系统、项目制留经验（不可复用）、FDE </a:t>
            </a:r>
            <a:r>
              <a:rPr lang="en-US" sz="120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留可复用的平台能力</a:t>
            </a: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判断真伪，就看“项目结束、人离开现场之后，公司手里留下了什么</a:t>
            </a: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”。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条鉴别项（真 FDE 应尽量满足）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292608" cy="292608"/>
          </a:xfrm>
          <a:prstGeom prst="ellipse">
            <a:avLst/>
          </a:prstGeom>
          <a:solidFill>
            <a:srgbClr val="ECF0F9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2435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交付结束后，公司能力是否增长？（不只是客户受益）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18888" y="1353312"/>
            <a:ext cx="292608" cy="292608"/>
          </a:xfrm>
          <a:prstGeom prst="ellipse">
            <a:avLst/>
          </a:prstGeom>
          <a:solidFill>
            <a:srgbClr val="ECF0F9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132588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2435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是否有能力回注动作？（识别→抽象→集成→验证闭环）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901952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" y="2066544"/>
            <a:ext cx="292608" cy="292608"/>
          </a:xfrm>
          <a:prstGeom prst="ellipse">
            <a:avLst/>
          </a:prstGeom>
          <a:solidFill>
            <a:srgbClr val="ECF0F9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03911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1956816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是否按价值而非人头计费？（报价挂钩结果/KPI，人天计费会逼回外包）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901952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18888" y="2066544"/>
            <a:ext cx="292608" cy="292608"/>
          </a:xfrm>
          <a:prstGeom prst="ellipse">
            <a:avLst/>
          </a:prstGeom>
          <a:solidFill>
            <a:srgbClr val="ECF0F9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03911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1956816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是否汇报给产品线而非销售？（汇报线决定行为）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615184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" y="2779776"/>
            <a:ext cx="292608" cy="292608"/>
          </a:xfrm>
          <a:prstGeom prst="ellipse">
            <a:avLst/>
          </a:prstGeom>
          <a:solidFill>
            <a:srgbClr val="ECF0F9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275234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267004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定制代码是否被抽象为可复用组件？（不是写完就留客户那里）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615184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18888" y="2779776"/>
            <a:ext cx="292608" cy="292608"/>
          </a:xfrm>
          <a:prstGeom prst="ellipse">
            <a:avLst/>
          </a:prstGeom>
          <a:solidFill>
            <a:srgbClr val="ECF0F9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275234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67004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是否沉淀了 Playbook / SOP？（固化可复用方法文档）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328416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8368" y="3493008"/>
            <a:ext cx="292608" cy="292608"/>
          </a:xfrm>
          <a:prstGeom prst="ellipse">
            <a:avLst/>
          </a:prstGeom>
          <a:solidFill>
            <a:srgbClr val="ECF0F9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" y="346557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338328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离开现场后系统是否仍能自运营？（交付物是能力而非人）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328416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18888" y="3493008"/>
            <a:ext cx="292608" cy="292608"/>
          </a:xfrm>
          <a:prstGeom prst="ellipse">
            <a:avLst/>
          </a:prstGeom>
          <a:solidFill>
            <a:srgbClr val="ECF0F9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18888" y="346557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338328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人才是否是真工程师（能写生产级代码）而非咨询顾问？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135313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" y="4135313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4135313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给甲方的判读阈值：勾选 ≥6 条，且 1、2、3、4 四条硬指标必须勾选，才可认定“真 FDE 倾向”；硬指标缺任何一条（尤其 3 按价值计费、4 汇报产品线）＝高退化风险，签约前优先核验这两条。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656521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本量表为教材提炼的教学工具（非行业标准认证）；对外做正式判断时，请结合合同条款、考核与汇报线等一手证据。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FDE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死亡螺旋：结构性、自我强化——只能从结构上切断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四模式对比：SaaS / 咨询 / 外包 / FDE（既要适配又要复用）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越做越省：能力回注飞轮 + 经验曲线（Cₙ = C₁ × n⁻ᵅ）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Palantir 佐证：毛利率升、净利率转正、NRR&gt;100%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条诊断量表鉴别真伪 FDE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交付方法论：四阶段与能力回注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三要素 · Echo/Delta · 四阶段 · Stage Gate · 能力回注 · 总分总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三要素：People 是根、Process 是脉、Technology 是器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客户侧与己方侧；Echo / Delta 分工与协作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2257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四阶段：Discovery → Prototype → Build → Scale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9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Gate 六要素与止损规则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56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能力金字塔 + 能力回注四步法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235546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235546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23554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 1–2 章（FDE 定义、飞轮）。本章是全书地图——进入实操前的总纲。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一次交付 = 三个维度同步改造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82880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People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谁来用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谁来推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谁来接盘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182880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业务如何运转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如何被重塑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06040" cy="182880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508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用什么技术打通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如何对接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64008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611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三者缺一不可，People 为先：只上技术 → 搁板软件；只谈流程 → 纸上谈兵。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“PPT” = People–Process–Technology，与演示文稿无关。本章按 People → Process → Technology 顺序展开。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3.1–3.2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3.1–3.2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框架与 People 维度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People 是根 · Process 是脉 · Technology 是器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客户侧：干系人 · 冠军用户 · 变革推动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己方侧：Echo · Delta · Engineering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客户侧：系统被谁用、谁推动、谁接盘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73736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" cy="17373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干系人管理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 · 使用者 · 技术层 · 监管层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不同层级说不同话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06040" cy="173736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54864" cy="173736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冠军用户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头三天找到客户内部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最懂业务、能帮推动的“自己人”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06040" cy="1737360"/>
          </a:xfrm>
          <a:prstGeom prst="rect">
            <a:avLst/>
          </a:prstGeom>
          <a:solidFill>
            <a:srgbClr val="ECF0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54864" cy="173736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变革推动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1031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防“没人用”：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 → 动机 → 信任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己方侧：FDE 作战单元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92024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· 业务策略师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主责判断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挖需求 · 拆场景 · 出方案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→《解决方案框架》（施工图 = 任务书）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192024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4728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· 技术执行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主责施工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2677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 · 搭原型 · 上线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能力回注回平台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06040" cy="192024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· 基础设施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保阵地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2677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 · 网络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部署运维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0233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/ Delta 深度画像、职责矩阵、时间分配 → 第 4 章专项展开。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协作模式：本书最重要的分工关系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74720" cy="91440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9144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Echo（判断）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挖需求 → 出《解决方案框架》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20640" y="1280160"/>
            <a:ext cx="3474720" cy="91440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20640" y="1280160"/>
            <a:ext cx="54864" cy="9144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4924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Delta（施工）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照图施工 → 可跑 Demo → 能力回注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1481328"/>
            <a:ext cx="822960" cy="36576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6052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2514600"/>
            <a:ext cx="3291840" cy="0"/>
          </a:xfrm>
          <a:prstGeom prst="line">
            <a:avLst/>
          </a:prstGeom>
          <a:noFill/>
          <a:ln w="19050">
            <a:solidFill>
              <a:srgbClr val="5B7A5B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5196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9465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994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4893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分工解耦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6080" y="29489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管做什么、Delta 管怎么做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56158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61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51586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战斗力整合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926080" y="35158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同单元 · 无缝交接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12851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128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0827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分工哲学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26080" y="4082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人能判断、AI 能执行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 维度：四阶段交付与 Stage Gate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四阶段：发现 → 原型 → 构建 → 扩展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每阶段由 Stage Gate（门禁检查）把关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以西岭市民服务平台为例走一遍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四阶段：发现 → 原型 → 构建 → 扩展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20240" cy="141732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63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先找对问题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96312" y="196596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97480" y="1417320"/>
            <a:ext cx="1920240" cy="141732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97480" y="1417320"/>
            <a:ext cx="19202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563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Prototype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快速证明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45152" y="196596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1920240" cy="141732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19202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563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做实做稳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93992" y="196596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1417320"/>
            <a:ext cx="1920240" cy="1417320"/>
          </a:xfrm>
          <a:prstGeom prst="rect">
            <a:avLst/>
          </a:prstGeom>
          <a:solidFill>
            <a:srgbClr val="EDEAF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1417320"/>
            <a:ext cx="1920240" cy="54864"/>
          </a:xfrm>
          <a:prstGeom prst="rect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563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99516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放大复制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阶段之间由 Stage Gate 把关：拿“通过证据”过检查，过不了就返回、补证据、降范围或终止。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术语：四阶段为业界通用提炼（非 Palantir 官方术语）；Stage Gate 为教材提炼的工程管理实践。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一个项目走四阶段：西岭市民服务平台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39480"/>
            <a:ext cx="8046720" cy="74980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39480"/>
            <a:ext cx="54864" cy="74980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3948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60320" y="113948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找对问题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13948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139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《解决方案框架》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80728"/>
            <a:ext cx="8046720" cy="749808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980728"/>
            <a:ext cx="54864" cy="749808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1980728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Prototype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60320" y="1980728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快速证明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9807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+ Echo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9807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可跑 Demo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21976"/>
            <a:ext cx="8046720" cy="74980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821976"/>
            <a:ext cx="54864" cy="74980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821976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560320" y="2821976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能上生产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821976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82197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生产级系统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63224"/>
            <a:ext cx="8046720" cy="749808"/>
          </a:xfrm>
          <a:prstGeom prst="rect">
            <a:avLst/>
          </a:prstGeom>
          <a:solidFill>
            <a:srgbClr val="ED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663224"/>
            <a:ext cx="54864" cy="749808"/>
          </a:xfrm>
          <a:prstGeom prst="rect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663224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560320" y="3663224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沉淀能力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3663224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全团队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66322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自运营 + 回注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276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452276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45227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找对问题 → Delta 快速证明 / 做实做稳 → 全团队放大与回注。本书五个实操就是这条线的浓缩。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 发现期——先找对问题，别做错事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45720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陈主任：“用 AI 把这一整套都智能化了”——初期不以功能开发为目标。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4864" cy="1188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075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走访四方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/ 操作 / 技术 / 监管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96596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54864" cy="118872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2075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盘数据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份杂乱文档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54864" cy="11887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075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挖风险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不出域 · 怕替代 · ROI 说不清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作用：先找对问题——跳过它，方案可能做在错误地基上（如不知“数据不出域”选了公有云）。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114800"/>
            <a:ext cx="77864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职能：Echo 主导 →《解决方案框架》：拆三个子场景（诉求分类 / 政策问答 / 工单分流）+ 技术选型 + 优先级。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Prototype 原型期——快速证明价值，让决策层信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45720" cy="64008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照任务书，Delta 快速做出三个可跑 Demo（各配 Streamlit 验证面板）。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06040" cy="128016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939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诉求分类器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LLM 调用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实操二 · Ch8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606040" cy="128016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7560" y="196596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20939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政策问答 RAG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可溯源问答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实操三 · Ch10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2606040" cy="128016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96596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0939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工单分级工作流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固定路由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26480" y="2880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实操四 · Ch12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作用：最小代价证明最大价值——让决策层亲眼看到价值，而不是三个月后才发现没人要。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1148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职能：Delta 主导 + Echo 辅助（讲 Demo、对齐验收口径）→ 可跑 Demo + 验收记录。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构建期 · Scale 扩展期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265176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" cy="265176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构建期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做实做稳，能上生产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2478024"/>
            <a:ext cx="128016" cy="128016"/>
          </a:xfrm>
          <a:prstGeom prst="ellipse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 → 生产级：集成 · 质量 · 合规 · 上线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3026664"/>
            <a:ext cx="128016" cy="128016"/>
          </a:xfrm>
          <a:prstGeom prst="ellipse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能演示，生产要能天天用、出事有人负责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" y="3575304"/>
            <a:ext cx="128016" cy="128016"/>
          </a:xfrm>
          <a:prstGeom prst="ellipse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主导 → 生产级系统 + 质量报告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3931920" cy="2651760"/>
          </a:xfrm>
          <a:prstGeom prst="rect">
            <a:avLst/>
          </a:prstGeom>
          <a:solidFill>
            <a:srgbClr val="EDEAF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371600"/>
            <a:ext cx="54864" cy="2651760"/>
          </a:xfrm>
          <a:prstGeom prst="rect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73752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 扩展期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73752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放大复制，沉淀能力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10328" y="2478024"/>
            <a:ext cx="128016" cy="128016"/>
          </a:xfrm>
          <a:prstGeom prst="ellipse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0" y="2331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跨部门推广 + 客户自运营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10328" y="3026664"/>
            <a:ext cx="128016" cy="128016"/>
          </a:xfrm>
          <a:prstGeom prst="ellipse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能力回注：分类器 → 通用组件，回注平台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10328" y="3575304"/>
            <a:ext cx="128016" cy="128016"/>
          </a:xfrm>
          <a:prstGeom prst="ellipse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全团队 → 自运营交接 + 回注清单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Gate </a:t>
            </a:r>
            <a:r>
              <a:rPr lang="en-US" sz="260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六要素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28579"/>
            <a:ext cx="3931920" cy="109728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28579"/>
            <a:ext cx="54864" cy="10972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320019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输入条件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640059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已立项 · 有入口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28579"/>
            <a:ext cx="3931920" cy="109728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228579"/>
            <a:ext cx="54864" cy="10972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1320019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核心活动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640059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阶段主要工作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17299"/>
            <a:ext cx="3931920" cy="109728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417299"/>
            <a:ext cx="54864" cy="10972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508739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必交付物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2828779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阶段产物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417299"/>
            <a:ext cx="3931920" cy="109728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417299"/>
            <a:ext cx="54864" cy="109728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2508739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通过证据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2828779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凭什么“过了”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06019"/>
            <a:ext cx="3931920" cy="109728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606019"/>
            <a:ext cx="54864" cy="109728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3697459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未通过动作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017499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补证据 · 砍范围 · 终止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606019"/>
            <a:ext cx="3931920" cy="109728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606019"/>
            <a:ext cx="54864" cy="109728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3697459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主责与协同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4017499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谁主导 · 谁配合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 Gate：凭什么“过了”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Gate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通过证据（关键词）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未通过动作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Discovery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方向认可 · 冠军到位 · 数据可得 · 选型讲得清 · 红线入案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补证据 / 砍场景 / 重筛或终止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Prototype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达标 · 可溯源 · 零漏判 · 决策层认可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定位原因 → 迭代 → 回退或砍掉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Build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验收过 · 红线合规 · 演练过 · 能自运营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 → 降级放行 → 回退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撤离后自运营 · 回注复用验证过 · 飞轮有记录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暂缓回注 / 延长陪跑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8549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08549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08549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止损规则：连续两次 Gate 未过（或超预算仍无证据）→ 降范围 / 换方案 / 终止——防止“做错了还往下走”。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维度：技术选型与工具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选什么：LLM 能力金字塔（从最简单开始）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用什么：opencode / gstack / Streamlit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部署在哪：数据不出域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选什么——LLM 能力金字塔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1113689"/>
            <a:ext cx="6766560" cy="713232"/>
          </a:xfrm>
          <a:prstGeom prst="rect">
            <a:avLst/>
          </a:prstGeom>
          <a:solidFill>
            <a:srgbClr val="ED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1113689"/>
            <a:ext cx="64008" cy="713232"/>
          </a:xfrm>
          <a:prstGeom prst="rect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113689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40480" y="1113689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自主决策 · 调工具 · 多步流转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826921"/>
            <a:ext cx="0" cy="128016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954937"/>
            <a:ext cx="6766560" cy="713232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1954937"/>
            <a:ext cx="64008" cy="713232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1954937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840480" y="1954937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学领域知识 · 数据足够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2668169"/>
            <a:ext cx="0" cy="128016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88720" y="2796185"/>
            <a:ext cx="6766560" cy="713232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88720" y="2796185"/>
            <a:ext cx="64008" cy="71323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7320" y="2796185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840480" y="2796185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精确回答 · 可溯源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3509417"/>
            <a:ext cx="0" cy="128016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88720" y="3637433"/>
            <a:ext cx="6766560" cy="713232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88720" y="3637433"/>
            <a:ext cx="64008" cy="713232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7320" y="3637433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/ 分类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840480" y="3637433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一次调用能解决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原则：从最简单开始，仅必要时升级；各层可组合，不是单线升级。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各层何时用 · 为什么在上一层之下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何时用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为什么在上一层之下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提示词 / 分类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一次调用能解决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最简单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精确回答 + 可溯源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轻量，比微调简单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学领域知识、数据够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 · 难更新 · 不可溯源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自主决策 + 工具 + 多步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最复杂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343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可组合使用：RAG + 固定工作流、分类 + RAG 兜底——不是必须逐级攀登（选型矩阵见第 5 章 5.7.2）。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 · 部署在哪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228600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99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1938528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opencode（AI Coding）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gstack（八环节工作流）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Streamlit（验证面板）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DeepSeek（大模型 API）+ 向量库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2286000"/>
          </a:xfrm>
          <a:prstGeom prst="rect">
            <a:avLst/>
          </a:prstGeom>
          <a:solidFill>
            <a:srgbClr val="FDECE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54864" cy="228600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1499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部署在哪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73752" y="1938528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数据不出域 → 本地 / 私有化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 · 备案等合规红线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边界由数据分级 + 监管 + 合同确定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是器、Process 是脉、People 是根——顺序不可颠倒，选型服务于业务价值。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3.5–3.6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3.5–3.6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能力回注与实验设计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四步法：识别 → 抽象 → 集成 → 验证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碎石路 → 铺装公路 · 两条作战纪律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五实操总分总：Echo 定方向 → Delta 逐级施工 → 全团队收口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能力回注四步法（第 2 章“飞轮”的操作引擎）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20240" cy="141732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63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识别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多个客户都要？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96312" y="196596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97480" y="1417320"/>
            <a:ext cx="1920240" cy="141732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97480" y="1417320"/>
            <a:ext cx="19202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563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抽象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去客户化 · 泛化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45152" y="196596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1920240" cy="141732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19202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563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集成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并入平台 · 配置化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93992" y="196596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1417320"/>
            <a:ext cx="1920240" cy="1417320"/>
          </a:xfrm>
          <a:prstGeom prst="rect">
            <a:avLst/>
          </a:prstGeom>
          <a:solidFill>
            <a:srgbClr val="EDEAF6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1417320"/>
            <a:ext cx="1920240" cy="54864"/>
          </a:xfrm>
          <a:prstGeom prst="rect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563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验证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99516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能复用 · 不坏平台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33756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33375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本体建模 = 业务语义回注的结构化载体：把对象 / 关系 / 动作 / 治理约束建模（如“西岭住建局”→ 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责任部门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判断标准：值不值得回注 = 通用性（几个客户都要）× 实现成本（见下页矩阵）。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值不值得回注：通用性 × 实现成本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通用性高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通用性中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通用性低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 立即做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尽快做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 观察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尽快做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 计划做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 计划做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 观察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02842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002842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00284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值得回注 = 通用性高 × 成本可接受；低通用 + 高成本 → 留作定制，别污染“铺装公路”。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碎石路 → 铺装公路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46304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" cy="14630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910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碎石路（非标定制）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现场临时代码 · 非标配置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（今天的 Demo）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31920" cy="146304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54864" cy="146304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5910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铺装公路（平台固化）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029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抽象成标准模块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（明天所有客户直接用）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57116" y="2002536"/>
            <a:ext cx="502920" cy="36576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25112" y="290779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反复验证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抽象回注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520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核心理念：今天客户 A 的定制 → 明天平台的一个配置项 → 后天所有客户的标准能力。但拒绝过早标准化——没跑通就抽象，只会做出搁板软件。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两条作战纪律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92024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" cy="19202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91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五次部署法则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 个客户前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别写死 Playbook——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先验证，再固化 SOP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31920" cy="192024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54864" cy="19202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591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0574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同时只重点攻坚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 个大客户——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避免都做不深</a:t>
            </a:r>
            <a:endParaRPr lang="en-US" sz="12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交付方法论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三维度：People 是根、Process 是脉、Technology 是器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People 两侧：客户侧干系人 + 己方侧 Echo / Delta /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四阶段：Discovery → Prototype → Build → Scale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Gate 六要素 + 止损规则把关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金字塔从最简单开始；能力回注四步法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与 Delta：作战单元的分工与协作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翻译损耗 · 三角色 · 战位≠人格 · 人能判断 AI 能执行 · 四阶段主导权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7430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743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468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翻译损耗 → 为什么需要双角色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4122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412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137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三角色：Delta / Echo / Engineering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0815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081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807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战位职责 ≠ 个人能力（T 型）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77508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750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476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与 Delta 的职责、能力画像、时间分配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34201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3420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145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人能判断、AI 能执行 + 两种训练模式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90894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9089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8815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四阶段谁主导；定位练习认领战位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475868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475868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4758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 1–3 章（FDE 定义、飞轮、四阶段）——尤其第 3 章 3.2 的分工骨架，本章深入展开并认领战位。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4.1–4.2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4.1–4.2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为什么双角色与三角色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翻译损耗：交接越多，损耗越大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解法：分工解耦 × 战斗力整合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三角色：Delta 尖刀 · Echo 政委 · Engineering 保阵地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一次交付经历两段翻译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14630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客户业务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脏 · 模糊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藏风险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96312" y="1938528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920240" cy="14630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517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 1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697480" y="19385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→ 技术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挖真需求 · 定义边界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45152" y="1938528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1920240" cy="14630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517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 2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46320" y="19385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→ 业务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做出来 · 讲价值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93992" y="1938528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1371600"/>
            <a:ext cx="1920240" cy="1463040"/>
          </a:xfrm>
          <a:prstGeom prst="rect">
            <a:avLst/>
          </a:prstGeom>
          <a:solidFill>
            <a:srgbClr val="EDEAF6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1371600"/>
            <a:ext cx="1920240" cy="54864"/>
          </a:xfrm>
          <a:prstGeom prst="rect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517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落地成果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995160" y="19385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 · 在用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有价值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每一次在“懂业务的人”和“懂技术的人”之间交接，都是一次损耗——需求必然在流转中失真。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3931920" cy="1051560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一人全能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77440" y="3886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又懂业务又懂技术又能写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翻译损耗最小——但“超人”太少、不可复制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794760"/>
            <a:ext cx="3931920" cy="105156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3794760"/>
            <a:ext cx="54864" cy="105156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38862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业务/技术分家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3886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靠开会交接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翻译损耗最大——需求失真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的解法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分工解耦 × 战斗力整合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931920" cy="155448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55448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5968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解耦的是分工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管业务端</a:t>
            </a:r>
            <a:endParaRPr lang="en-US" sz="12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管技术端</a:t>
            </a:r>
            <a:endParaRPr lang="en-US" sz="12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两个高度专精的角色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468880"/>
            <a:ext cx="3931920" cy="155448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2468880"/>
            <a:ext cx="54864" cy="15544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25968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整合的是战斗力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同处一个作战单元</a:t>
            </a:r>
            <a:endParaRPr lang="en-US" sz="12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深度协作 · 目标一致</a:t>
            </a:r>
            <a:endParaRPr lang="en-US" sz="12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无缝交接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既避免“一人干全程”的不可复制，也避免“跨团队甩锅交接”的翻译损耗。</a:t>
            </a:r>
            <a:endParaRPr lang="en-US" sz="12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作战单元三角色：战场比喻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92024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· 技术执行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尖刀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手上沾泥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把方案翻译成能跑的代码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192024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4728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· 业务策略师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政委 / 导航员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2677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以业务与价值判断为主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挖真需求 · 出策略 · 做取舍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06040" cy="192024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· 基础设施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保阵地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2677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 · 网络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部署运维等脏活累活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本书主线 = Echo + Delta 双主角；Engineering 在课程中由讲师环境兜底。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战位职责 vs 个人能力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984065"/>
              </p:ext>
            </p:extLst>
          </p:nvPr>
        </p:nvGraphicFramePr>
        <p:xfrm>
          <a:off x="548640" y="1325880"/>
          <a:ext cx="8046720" cy="1508760"/>
        </p:xfrm>
        <a:graphic>
          <a:graphicData uri="http://schemas.openxmlformats.org/drawingml/2006/table">
            <a:tbl>
              <a:tblPr/>
              <a:tblGrid>
                <a:gridCol w="95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4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回答什么问题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会变化吗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例子（西岭）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战位职责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本轮谁对什么负责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随阶段迁移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Discovery 战位 = Echo；Prototype = Delta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我有什么、缺什么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长期培养（T 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 Echo 的人补工程技术短板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8046720" cy="77724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657600"/>
            <a:ext cx="64008" cy="7772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36576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角色是“战位”不是“标签”：战位跟着项目阶段走，个人按 T 型培养（横线够宽、竖线够深）——“测出偏 Echo”只说明你更愿意先想清楚，不代表你“不是做事的料”。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深度：业务策略师（Deployment Strategist）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主责判断，不直接负责工程实现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条核心职责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时间分配 70/20/10 + 能力画像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≠ 客户经理 / 售前</a:t>
            </a:r>
            <a:endParaRPr lang="en-US" sz="15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核心职责（5 条）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45225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522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72073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干系人管理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072073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谁说了算、谁会挡路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58457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858457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85305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痛点识别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85305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 ROI 的业务场景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71689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57168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98537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场景规划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498537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拆大需求 · 定 MVP 边界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84921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28492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11769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211769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能力金字塔选对路线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998153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99815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925001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落地推动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925001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客户采纳 · 撬动快赢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59251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战略定义：业务专家 + “产品侦探”——看穿客户嘴上说的“伪需求”与实际面临的“真痛点”之间的鸿沟。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日常时间分配（参考）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37160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客户沟通与业务洞察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37160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5179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方案设计与选型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37160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5179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推动落地与对齐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能力画像：业务理解 · 沟通 · 产品思维 · 学习敏捷度 极强；技术深度中等（够对话、够选型）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一句话：Echo 把时间主要花在“听、想、推”上。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≠ 客户经理 / 售前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懂技术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能判断技术可行性，不是只谈业务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定义问题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148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不是只记录需求，而是重构问题并做取舍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对落地负责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926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不只签单，而是对“业务真变好”负责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汇报线隔离：Echo 定义问题，但不背签单与定价指标——否则会被签单压力裹挟成售前。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深度：技术执行工程师（FDSE）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主责施工：把施工图实现为能跑的 Demo 并回注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条核心职责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时间分配 70/20/10 + 能力画像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≠ 只会写码的程序员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核心职责（5 条）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15919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1591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42767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042767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端到端搭建与清洗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29151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82915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55999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原型开发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55999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高价值场景迭代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42383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54238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69231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469231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异构集成 · 底层攻坚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55615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25561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82463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182463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识别共性 → 回注平台（Feedback Loop）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968847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968847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895695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895695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 · 测试 · 部署 · 上生产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563207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战略定义：驻扎客户现场的“全栈特种兵”——技术与业务现实碰撞最前沿的解题者。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日常时间分配（参考）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37160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编码与系统构建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37160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5179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客户沟通与联调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37160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5179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能力回注记录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能力画像：技术实现 · 工程稳定 · 调试排查 极强；业务理解中等（够听懂需求、判断可行性）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一句话：Delta 的 70/20/10——时间主要花在“写、联、回注”。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≠ “只会写码的程序员”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懂业务约束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463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参与技术可行性判断，听懂 Echo 的需求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59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主动能力回注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识别定制代码共性，回注平台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不做能力回注，Delta 就退化成外包——呼应第 2 章“卖人力 vs 卖能力”。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vs Delta 对照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0175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主战场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商务 · 共识 · 需求 · 策略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 · 原型 · 工程 · 回注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脑子 · 嘴 · 白板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 · opencode · gstack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判断力（前脑）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施工力（后手）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主导实操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Ch6 需求调研、Ch16 汇报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Ch8/10/12 三个 Demo、Ch16 技术评估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靠什么完成交付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挖真需求 · 出施工图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把施工图做成能跑的 Demo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4.5–4.6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4.5–4.6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分工哲学与四阶段协作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人能判断、AI 能执行 + 两种训练模式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四阶段主导权：Echo → 双角色 → Delta → 全团队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角色随阶段迁移（战位职责）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人能判断、AI 能执行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237744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" cy="23774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判断力（前脑）· 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029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挖真需求 / 做取舍 / 出策略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715768"/>
            <a:ext cx="128016" cy="128016"/>
          </a:xfrm>
          <a:prstGeom prst="ellipse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5786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拍板（验收口径 / 兜底策略）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264408"/>
            <a:ext cx="128016" cy="128016"/>
          </a:xfrm>
          <a:prstGeom prst="ellipse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31272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 AI 产出对错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3931920" cy="237744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54864" cy="23774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施工力（后手）· AI + 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2167128"/>
            <a:ext cx="128016" cy="128016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2029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跑流程 / 写样板代码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37760" y="2715768"/>
            <a:ext cx="128016" cy="128016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25786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 checkpoint 把关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两种能力缺一不可——“人会判断、AI 会执行”是 FDE 交付的核心引擎。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由此引出本书的两种训练模式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246888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" cy="246888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判断型实操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Ch6 实操一 · Ch16 实操五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关键判断不用 AI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仅辅助整理 / 润色 / 扮演红队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——练判断力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246888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54864" cy="24688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施工品类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892040" y="1993392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Ch8/10/12 实操二三四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opencode + gstack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跑流程、人在 checkpoint 把关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——练施工力</a:t>
            </a:r>
            <a:endParaRPr lang="en-US" sz="12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能力金字塔：双方共用的坐标系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64592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" cy="164592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· 选层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用业务判据决定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用提示词 / RAG / Agent（方向）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164592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54864" cy="16459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· 建层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Coding 把选定的层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实现出来（落地）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8046720" cy="77724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64008" cy="7772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4290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选层与建层，是同一张图的两半——金字塔既是分工的分界线，又是协作的契合点（Echo 说“第 2 层 RAG”，Delta 就知道要建“检索 + 引用”管线）。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四阶段：谁主导、谁配合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Discovery 发现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挖痛点 · 理干系人 · 拆场景 · 选型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补技术可行性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Prototype 原型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双角色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 MVP · 讲 Demo · 拿决策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快速做出可跑原型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Build 构建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验需求 · 推采纳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 · 测试 · 合规 · 上线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 扩展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全团队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推变革 · 讲价值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自运营 · 回注 · 评估生产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25348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125348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1253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协作节奏：Echo 从“挖需求”到“验收 + 讲价值”，Delta 从“判断可行性”到“主导施工 + 回注”——角色不是静止的，而是随阶段迁移。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实战演练：角色定位——认领你的战位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08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玩法一：倾向自测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题选 A / B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多 → Echo（策略型）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多 → Delta（工程型）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 → 双栖型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408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玩法二：情境判断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张情境卡，判断“该谁主导”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例：敏感件可能漏判 →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+ Delta 协作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408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自测结果.txt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战位声明.md（职责边界 + T 型计划）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能力短板清单.md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78344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778344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77834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重要前提</a:t>
            </a:r>
            <a:r>
              <a:rPr lang="zh-CN" alt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本演练判断的是战位倾向，不是人格测验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——结果只决定“谁主导哪一步”。建议 15–20 分钟（单测）/ 30 分钟（组内讨论）。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4641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无优劣、无高低之分——只说明你更愿意把精力放在“想清楚”还是“做出来”，两者对 FDE 都必要。</a:t>
            </a:r>
            <a:endParaRPr lang="en-US" sz="10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与 Delta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双角色源于翻译损耗：业务 ↔ 技术交接丢信息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作战单元三角色：Echo / Delta /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战位 ≠ 人格：战位随阶段迁移，能力按 T 型培养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出施工图 · Delta 做 Demo 并回注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人能判断、AI 能执行：判断归人、执行归 AI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四阶段主导：Echo → 双角色 → Delta → 全团队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工作法 · 定义问题（Discovery）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不以功能开发为目标 · 三个脚手架 · 三个 SOP · 选型 · 解决方案框架 · Gate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“不以功能开发为目标”原则 + 时间盒验证边界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三个脚手架：失败模式 / 决策链 / 能力金字塔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2257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SOP：干系人地图 · 数据盘点 · 快赢筛选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9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快赢评分量表（1–5 分 + 判断依据）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56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场景拆解 + 选型三问 + 技术决策矩阵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产出《解决方案框架》；Discovery Gate 六要素自检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核心原则：Discovery 初期不以功能开发为目标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先听客户说话，成为内行人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允许时间盒（time-boxed）技术验证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产出“判断依据”，不是“可用功能”</a:t>
            </a:r>
            <a:endParaRPr lang="en-US" sz="15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进驻客户后的第一原则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8580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" cy="685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 初期不以功能开发为目标——先听客户说话，成为内行人。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为什么不是先动手？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606040" cy="100584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People 是根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3310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客户到底要解决什么、谁在用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834640"/>
            <a:ext cx="2606040" cy="100584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7560" y="283464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 是脉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3310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业务怎么运转、怎么被重塑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606040" cy="100584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是器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63640" y="3310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数据行不行、技术怎么做——放最后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2062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顺序不可颠倒：一上来就做功能，会在没搞清“客户要解决什么、谁在用、数据行不行”之前，把方案做在错误的地基上。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“不以功能开发为目标” ≠ “完全不碰技术”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849050"/>
              </p:ext>
            </p:extLst>
          </p:nvPr>
        </p:nvGraphicFramePr>
        <p:xfrm>
          <a:off x="548640" y="1280160"/>
          <a:ext cx="8046720" cy="20116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允许（时间盒技术验证）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不允许（功能开发）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连一次 API · 跑通 1 条样例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 1 份文档 · 查字段可得性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写业务代码 · </a:t>
                      </a:r>
                      <a:r>
                        <a:rPr lang="en-US" sz="1150" dirty="0" err="1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搭界面</a:t>
                      </a:r>
                      <a:r>
                        <a:rPr lang="zh-CN" alt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</a:t>
                      </a:r>
                      <a:r>
                        <a:rPr lang="en-US" sz="1150" dirty="0" err="1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做完整数据管线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消除“数据/技术不可行”的不确定性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支撑选型判断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交付可用的功能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时间盒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单次半天以内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累计不超过 Discovery 工作量 20%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无时间盒（留到</a:t>
                      </a: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Prototype）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27114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927114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92711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判断标准：验证产出的是“判断依据”，不是“可用功能”——能让选型更确定的就值得做。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在 Discovery 初期的时间分配（参考）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15544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听客户说话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干系人访谈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1920240" cy="15544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7480" y="15179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97480" y="20299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跟班观察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业务现场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920240" cy="15544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5179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20299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数据资产盘点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95160" y="1371600"/>
            <a:ext cx="1920240" cy="1554480"/>
          </a:xfrm>
          <a:prstGeom prst="rect">
            <a:avLst/>
          </a:prstGeom>
          <a:solidFill>
            <a:srgbClr val="EDEAF6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95160" y="1371600"/>
            <a:ext cx="1920240" cy="54864"/>
          </a:xfrm>
          <a:prstGeom prst="rect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95160" y="15179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20299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验证与方案设计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（含时间盒验证）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Delta 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的根本分工：Echo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的第一任务是把问题</a:t>
            </a:r>
            <a:r>
              <a:rPr lang="en-US" sz="1200" b="1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定义对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</a:t>
            </a:r>
            <a:r>
              <a:rPr lang="en-US" sz="1200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动手做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——判断错，再快的施工也是白费。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三个思维脚手架：让头脑风暴有结构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脚手架一：四类失败模式（挖风险）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脚手架二：四层决策链（理干系人）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脚手架三：LLM 能力金字塔（选型）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脚手架一：四类失败模式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28342"/>
            <a:ext cx="3931920" cy="14630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28342"/>
            <a:ext cx="54864" cy="14630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5635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数据不可用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9527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数据拿不齐、拿不干净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格式杂乱 · 字段缺失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28342"/>
            <a:ext cx="3931920" cy="14630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128342"/>
            <a:ext cx="54864" cy="14630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25635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业务不配合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9527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用系统的人抵制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怕被替代 · 消极使用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28542"/>
            <a:ext cx="3931920" cy="146304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728542"/>
            <a:ext cx="54864" cy="146304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85655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合规卡住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29547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法规/监管一票否决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不出域 · 可解释 · 兜底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728542"/>
            <a:ext cx="3931920" cy="14630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728542"/>
            <a:ext cx="54864" cy="146304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85655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说不清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29547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算不清投入产出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没基线 · 拍脑袋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28742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328742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32874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用法：对项目材料逐条问“属于哪一类”——停在哪个区最空？空区往往是全组集体盲区（多数组会漏非技术风险）。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脚手架二：四层决策链——对不同层级说不同话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63513"/>
            <a:ext cx="3931920" cy="14630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63513"/>
            <a:ext cx="54864" cy="14630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91529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30441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关心：值不值、能不能汇报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说：ROI 和成效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63513"/>
            <a:ext cx="3931920" cy="14630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163513"/>
            <a:ext cx="54864" cy="14630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291529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30441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关心：会不会抢饭碗、好不好用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说：角色升级（分派员→审核员）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63713"/>
            <a:ext cx="3931920" cy="14630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763713"/>
            <a:ext cx="54864" cy="146304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891729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330641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关心：数据安全、对接量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说：本地部署 · 少动现有系统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763713"/>
            <a:ext cx="3931920" cy="146304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763713"/>
            <a:ext cx="54864" cy="146304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891729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330641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关心：合规 · 可解释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说：不出域 · 可解释 · 有兜底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63913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363913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363913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用法：画权力 × 兴趣坐标，把关键干系人（含“刁钻”的监管层）定位进去，为每人写一句沟通策略。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脚手架三：LLM 四层能力金字塔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1164685"/>
            <a:ext cx="6766560" cy="713232"/>
          </a:xfrm>
          <a:prstGeom prst="rect">
            <a:avLst/>
          </a:prstGeom>
          <a:solidFill>
            <a:srgbClr val="ED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1164685"/>
            <a:ext cx="64008" cy="713232"/>
          </a:xfrm>
          <a:prstGeom prst="rect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164685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40480" y="1164685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自主决策 + 调工具 + 多步流转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877917"/>
            <a:ext cx="0" cy="128016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2005933"/>
            <a:ext cx="6766560" cy="713232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2005933"/>
            <a:ext cx="64008" cy="713232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2005933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840480" y="2005933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学领域知识 · 数据足够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2719165"/>
            <a:ext cx="0" cy="128016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88720" y="2847181"/>
            <a:ext cx="6766560" cy="713232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88720" y="2847181"/>
            <a:ext cx="64008" cy="71323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7320" y="2847181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840480" y="2847181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基于文档精确回答 + 可溯源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3560413"/>
            <a:ext cx="0" cy="128016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88720" y="3688429"/>
            <a:ext cx="6766560" cy="713232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88720" y="3688429"/>
            <a:ext cx="64008" cy="713232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7320" y="3688429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 / 分类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840480" y="3688429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能用一次调用解决的，就用最简单的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593685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用法：对每个子场景问“该用哪一层、为什么是它、为什么不是更复杂的那层”。新手最容易“什么都想上 Agent”，要拉回“从最简单开始”。</a:t>
            </a:r>
            <a:endParaRPr lang="en-US" sz="11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5.3–5.4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5.3–5.4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干系人地图与痛点诊断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SOP1 干系人地图：权力 × 兴趣四象限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痛点诊断：访谈 + 跟班观察 + 四类痛点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顺带收集候选业务语义</a:t>
            </a:r>
            <a:endParaRPr lang="en-US" sz="15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干系人地图：输入 · 步骤 · 输出 · 判据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863657"/>
              </p:ext>
            </p:extLst>
          </p:nvPr>
        </p:nvGraphicFramePr>
        <p:xfrm>
          <a:off x="548640" y="1064453"/>
          <a:ext cx="8046720" cy="332841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谁说了算 · 谁会挡路 · 对谁说什么话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项目材料（需求原文 / 组织架构）+ 可接触人员范围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列清单（决策者 / 影响者 / 使用者 / 阻碍者 / 冠军候选）② 权力×兴趣定位四象限 ③ 每人一句沟通策略；头三天锁定冠军用户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干系人清单 + 权力×兴趣图 + 每人一句沟通策略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完成判据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四象限都有落位；五类干系人能点名；对每人都能答“该对他说什么”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名单不全→跟班/访谈补全；监管层信息不足→查制度文件+正式访谈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权力（纵）× 兴趣（横）四象限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075591"/>
            <a:ext cx="3291840" cy="16916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075591"/>
            <a:ext cx="32918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4440" y="118531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高权 · 高兴趣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78511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 / 冠军用户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讲价值 · 拉入伙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075591"/>
            <a:ext cx="3291840" cy="169164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075591"/>
            <a:ext cx="32918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18531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高权 · 低兴趣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578511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监管层 / 阻碍者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重点维护 · 防一票否决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2904391"/>
            <a:ext cx="3291840" cy="16916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2904391"/>
            <a:ext cx="32918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01411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低权 · 高兴趣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407311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讲角色升级 · 防抵制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2904391"/>
            <a:ext cx="3291840" cy="16916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2904391"/>
            <a:ext cx="32918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3014119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低权 · 低兴趣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3407311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边缘角色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保持知会即可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4660039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纵轴：权力高低（说了算不算）｜横轴：兴趣高低（想不想推动）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+ 四类痛点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82038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82038"/>
            <a:ext cx="54864" cy="1188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9176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结构化访谈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158495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按角色列问题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深挖“每天最头疼的事”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82038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082038"/>
            <a:ext cx="54864" cy="1188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19176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跟班观察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158495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到现场看业务流转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眼睛看到的比嘴上说的更真实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90798"/>
            <a:ext cx="1920240" cy="1463040"/>
          </a:xfrm>
          <a:prstGeom prst="rect">
            <a:avLst/>
          </a:prstGeom>
          <a:solidFill>
            <a:srgbClr val="F5ECE0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590798"/>
            <a:ext cx="19202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0052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306628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低效 · 返工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45947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简单/复杂诉求混走一套流程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97480" y="2590798"/>
            <a:ext cx="1920240" cy="1463040"/>
          </a:xfrm>
          <a:prstGeom prst="rect">
            <a:avLst/>
          </a:prstGeom>
          <a:solidFill>
            <a:srgbClr val="DBE4F0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97480" y="2590798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97480" y="270052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97480" y="306628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拿不齐 · 不可用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345947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政策库格式混杂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590798"/>
            <a:ext cx="1920240" cy="1463040"/>
          </a:xfrm>
          <a:prstGeom prst="rect">
            <a:avLst/>
          </a:prstGeom>
          <a:solidFill>
            <a:srgbClr val="E4EFE4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2590798"/>
            <a:ext cx="19202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70052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46320" y="306628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靠人 · 易错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45947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坐席老分错部门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95160" y="2590798"/>
            <a:ext cx="1920240" cy="1463040"/>
          </a:xfrm>
          <a:prstGeom prst="rect">
            <a:avLst/>
          </a:prstGeom>
          <a:solidFill>
            <a:srgbClr val="FDECEA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995160" y="2590798"/>
            <a:ext cx="19202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95160" y="270052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995160" y="306628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信息孤岛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45947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工单/市民/政策分属多套系统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39" y="4419598"/>
            <a:ext cx="8346245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4419598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4419598"/>
            <a:ext cx="7994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完成判据：每条痛点有原始证据（访谈引述 / 观察记录 / 数据样例），不凭印象；能说清影响谁、多频繁、代价多大。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顺带收集“候选业务语义”（不做最终建模）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业务对象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客户反复提到：诉求 · 政策 · 工单 · 部门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7627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对象关系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17520" y="21031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哪些关系决定业务结果：诉求依据哪条政策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动作执行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17520" y="28803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哪些动作由谁执行：分类 · 分派 · 升级 · 审批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状态审批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017520" y="36576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哪些状态变化需审批：转人工 · 驳回 · 关闭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62387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462387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462387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只收集、不建模：对象边界、关系与动作的正确性，等数据与流程验证后再定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5.5–5.6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5.5–5.6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数据盘点与快赢筛选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SOP2 数据盘点：业务牵引逆向盘点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SOP3 快赢筛选：影响力 × 可行性矩阵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评分量表 1–5 分，必须附依据</a:t>
            </a:r>
            <a:endParaRPr lang="en-US" sz="15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“业务牵引”逆向盘点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095518"/>
            <a:ext cx="7315200" cy="621792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095518"/>
            <a:ext cx="64008" cy="62179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095518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业务需要什么数据？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717310"/>
            <a:ext cx="0" cy="11887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808750"/>
            <a:ext cx="7315200" cy="621792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808750"/>
            <a:ext cx="64008" cy="621792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1808750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数据在哪？（哪个系统 / 部门）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430542"/>
            <a:ext cx="0" cy="11887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2521982"/>
            <a:ext cx="7315200" cy="621792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2521982"/>
            <a:ext cx="64008" cy="621792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2521982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什么格式？（md / xlsx / pdf / 扫描件）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143774"/>
            <a:ext cx="0" cy="11887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3235214"/>
            <a:ext cx="7315200" cy="621792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3235214"/>
            <a:ext cx="64008" cy="621792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720" y="3235214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能拿到吗？（可得性 / 权限 / 合规）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3857006"/>
            <a:ext cx="0" cy="11887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3948446"/>
            <a:ext cx="7315200" cy="621792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3948446"/>
            <a:ext cx="64008" cy="621792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88720" y="3948446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能直接用吗？（还需清洗多少）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66167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先想清楚业务需要哪些数据，再倒查数据在哪、格式如何、能否拿到——而不是“有什么数据做什么”。</a:t>
            </a:r>
            <a:endParaRPr lang="en-US" sz="11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常见陷阱 + 完成判据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55448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纸面上有、实际拿不到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 / 合规拿不出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5544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格式杂乱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9019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Word / 扫描件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需大量清洗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5544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口径对不上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9019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字段定义与业务口径不一致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429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完成判据：每字段有出处与格式；每项标可得性并写明原因；至少核实过系统一次；基线数字（如错分率）有来源或标注“待核实”。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影响力 × 可行性矩阵——找出“快赢”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099037"/>
            <a:ext cx="3291840" cy="16916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099037"/>
            <a:ext cx="32918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4440" y="1208765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★ 快赢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01957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高影响 · 高可行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第一优先，先做这个！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099037"/>
            <a:ext cx="3291840" cy="16916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099037"/>
            <a:ext cx="32918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208765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可做价值有限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01957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低影响 · 高可行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延后，有余力再排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2927837"/>
            <a:ext cx="3291840" cy="16916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2927837"/>
            <a:ext cx="32918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037565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需补条件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430757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高影响 · 低可行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第二优先，先补数据 / 条件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2927837"/>
            <a:ext cx="3291840" cy="169164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2927837"/>
            <a:ext cx="32918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3037565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不做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3430757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低影响 · 低可行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砍掉，不投入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4683485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纵轴：可行性（数据 / 技术 / 合规 / 周期）｜横轴：影响力（领导关心 / 获得感 / 覆盖）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快赢评分量表（影响力 × 可行性，1–5 分）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2918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评分项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领导关注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无人关心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部门主任关心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决策者点名要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业务获得感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部分受益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 · 强痛点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覆盖规模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一个部门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跨部门 / 全流程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可行性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拿不到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有条件（需申请/清洗）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已在手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技术复杂度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高（微调 / Agent）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中（RAG）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低（一次调用）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有红线风险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需评审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无新增风险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&gt;1 个月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2–4 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≤2 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6177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铁律：每项分值必须写判断依据（数字 / 事实 / 访谈引述）——不允许“凭感觉”打分。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场景拆解与技术选型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把一句模糊大需求拆成可施工的子场景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选型三问 + 决策树 + 技术决策矩阵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西岭三个场景的选型理由</a:t>
            </a:r>
            <a:endParaRPr lang="en-US" sz="15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把模糊大需求拆成子场景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377440" y="1234440"/>
            <a:ext cx="4389120" cy="64008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77440" y="1234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一句模糊大需求：把整个平台都智能化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874520"/>
            <a:ext cx="0" cy="50292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2377440" cy="10972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23774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子场景 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诉求智能分类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1874520"/>
            <a:ext cx="0" cy="50292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0" y="2377440"/>
            <a:ext cx="2377440" cy="10972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0" y="2377440"/>
            <a:ext cx="23774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子场景 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472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政策智能问答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1874520"/>
            <a:ext cx="0" cy="502920"/>
          </a:xfrm>
          <a:prstGeom prst="line">
            <a:avLst/>
          </a:prstGeom>
          <a:noFill/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2377440" cy="10972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23774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子场景 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2648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工单智能分流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9319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每个子场景记清三件事：解决什么问题 · 用户是谁 · 成功怎么衡量（可数指标，如准确率 ≥95%）——这决定 Prototype 验收口径。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选型三问 + 决策树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64453"/>
            <a:ext cx="8046720" cy="585216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64453"/>
            <a:ext cx="64008" cy="585216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64453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只需归个类？（一次调用）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0" y="1064453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分类器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649669"/>
            <a:ext cx="0" cy="100584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750253"/>
            <a:ext cx="8046720" cy="58521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50253"/>
            <a:ext cx="64008" cy="58521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750253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要基于文档精确回答 + 溯源？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1750253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RAG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2335469"/>
            <a:ext cx="0" cy="100584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436053"/>
            <a:ext cx="8046720" cy="585216"/>
          </a:xfrm>
          <a:prstGeom prst="rect">
            <a:avLst/>
          </a:prstGeom>
          <a:solidFill>
            <a:srgbClr val="EDEA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436053"/>
            <a:ext cx="64008" cy="585216"/>
          </a:xfrm>
          <a:prstGeom prst="rect">
            <a:avLst/>
          </a:prstGeom>
          <a:solidFill>
            <a:srgbClr val="907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436053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要自主决策 + 调工具 + 多步流转？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2436053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Agent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0" y="3021269"/>
            <a:ext cx="0" cy="100584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121853"/>
            <a:ext cx="8046720" cy="58521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121853"/>
            <a:ext cx="64008" cy="58521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121853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需内化特定领域风格 / 格式 / 协议？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0" y="3121853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微调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0" y="3707069"/>
            <a:ext cx="0" cy="100584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807653"/>
            <a:ext cx="8046720" cy="58521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807653"/>
            <a:ext cx="64008" cy="58521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807653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全都不满足？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0" y="3807653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高级提示词 / 固定工作流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11741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4511741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4511741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注意：Q1/Q2/Q3 全不满足并不必然要微调——是否“学会”特定领域风格 / 格式 / 私有协议（Q4）才是微调判据；否则用高级提示词 / 固定工作流。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技术决策矩阵（与金字塔互补）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07238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判断问题（按顺序逐条问）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否 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需要外部领域知识（文档 / 知识库）？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答案需要来源引用、可溯源？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RAG（必需）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需稳定改变模型行为（风格/格式/协议）？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微调（数据够时）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需要调用工具、多步决策？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/ Workflow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流程路径可枚举（预编排）？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固定工作流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 Agent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需人工审批 / 兜底？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 HITL 节点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全自动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读法：六问逐条判断，多个“是”可叠加组合（典型：RAG + 固定工作流 + HITL 人工兜底）。口诀：从最简单开始，该上复杂时也要果断。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本课程实例：西岭选型理由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37744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A · 诉求分类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一次调用、无需多步决策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——不用 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237744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4728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B · 政策问答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基于文档回答 + 可溯源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政策常更新——不用微调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组合：RAG + 库外拒答兜底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06040" cy="237744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C · 工单分流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分流后还要“做事”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（自动答复 / 转人工）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——不是分类器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每次选型都要能讲清：“为什么是它、为什么不用更复杂的、它与哪些维度组合、人工兜底在哪”。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5.8–5.9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5.8–5.9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解决方案框架与 AI 辅助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 Gate 六要素核验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《解决方案框架》= Delta 的施工图（八字段定验收）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辅助：子弹不是结论</a:t>
            </a:r>
            <a:endParaRPr lang="en-US" sz="15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 Gate：六要素核验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200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本阶段内容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输入条件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已立项 / 客户授权；可接触干系人与数据入口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核心活动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干系人地图 · 痛点诊断 · 数据盘点 · 快赢筛选 · 场景选型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必交付物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 + 痛点清单 + 数据清单 + 评分表 +《解决方案框架》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通过证据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方向认可 · 冠军到位 · 数据可得 · 选型讲得清 · 红线入案 · 基线有来源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未通过动作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缺证据→补；范围过大→砍场景；无快赢→重筛或终止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主责与协同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Echo 主导；Delta 补可行性；客户决策者 + 业务骨干确认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572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快速自检：决策者认可？冠军用户到位？数据已验证？“黑话”复述得出来？</a:t>
            </a:r>
            <a:endParaRPr lang="en-US" sz="1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《解决方案框架》模板（一页纸）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55448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996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一、需求拆解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八字段表（场景 A/B/C）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21992" y="137160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21992" y="1371600"/>
            <a:ext cx="155448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13432" y="14996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二、技术选型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13432" y="21488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× 选型 × 为什么 × 为何不用更复杂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95344" y="137160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95344" y="1371600"/>
            <a:ext cx="155448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86784" y="14996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三、施工优先级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86784" y="21488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快赢第一优先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68696" y="137160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68696" y="1371600"/>
            <a:ext cx="155448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0136" y="14996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四、风险与应对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0136" y="21488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四类风险 × 初步应对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42048" y="137160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42048" y="1371600"/>
            <a:ext cx="155448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33488" y="14996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五、数据不出域方案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33488" y="21488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红线写入方案，非施工期才发现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这份《解决方案框架》就是 Echo 交给 Delta 的“施工图 / 任务书”——第 6 章实操一产出它，第 8 / 10 / 12 章照它施工。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成品样例不随正文公布——它是实操一的产出，公布等于直接给答案。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每个场景一张八字段表——成功标准与验收设计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704202"/>
              </p:ext>
            </p:extLst>
          </p:nvPr>
        </p:nvGraphicFramePr>
        <p:xfrm>
          <a:off x="548640" y="1036318"/>
          <a:ext cx="8046720" cy="3291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要回答的问题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业务目标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对谁、解决什么问题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成功指标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业务和技术分别衡量什么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数据与样本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数据来自哪里，谁持有标签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通过门槛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当前阈值是多少，为什么定这个数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人工兜底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哪些情况必须转人工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失败代价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错分、错答、漏判各造成什么后果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谁确认口径，谁执行验证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待校准假设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哪些阈值只能在 Prototype 后确定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70597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70597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70597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“教学初始值”与“校准”分开写：教材默认阈值（如 ≥85%）须标注为教学初始值；Prototype 后校准须记录变更原因与确认人。Delta 不得自行发明业务阈值——那是 Echo 的职责。</a:t>
            </a:r>
            <a:endParaRPr lang="en-US" sz="1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辅助：它做什么 · 你验证什么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0116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辅助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它为你做什么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你（人）要验证什么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访谈 / 纪要结构化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自动转写 · 去噪 · 抽关键实体与痛点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结论与真实现场是否一致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痛点聚类与初筛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聚类高频痛点 · 量化出现频率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 ≠ 重要，用业务判断筛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尽调资料速读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秒答制度文档里的卡点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找业务骨干核对“黑话”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05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1605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1605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铁律：“AI 洞察只是子弹，不是结论”——AI 归纳的结论必须回到现场做人工确认，否则会把 LLM 的“看似合理”误当成客户真话。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工作法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 不以功能开发为目标（允许时间盒验证）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三脚手架：失败模式 / 决策链 / 能力金字塔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SOP：干系人地图 / 数据盘点 / 快赢筛选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快赢评分 1–5 分排序候选场景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场景拆解 + 选型三问 + 技术决策矩阵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《解决方案框架》= Delta 施工图；Gate 六要素自检</a:t>
            </a:r>
            <a:endParaRPr lang="en-US" sz="13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94960" y="91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7000" dirty="0"/>
          </a:p>
        </p:txBody>
      </p:sp>
      <p:sp>
        <p:nvSpPr>
          <p:cNvPr id="5" name="Shape 3"/>
          <p:cNvSpPr/>
          <p:nvPr/>
        </p:nvSpPr>
        <p:spPr>
          <a:xfrm rot="2700000">
            <a:off x="7315200" y="-1097280"/>
            <a:ext cx="3108960" cy="3108960"/>
          </a:xfrm>
          <a:prstGeom prst="rect">
            <a:avLst/>
          </a:prstGeom>
          <a:solidFill>
            <a:srgbClr val="FFFFFF">
              <a:alpha val="7000"/>
            </a:srgbClr>
          </a:solidFill>
          <a:ln w="1651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2700000">
            <a:off x="7818120" y="-594360"/>
            <a:ext cx="2103120" cy="2103120"/>
          </a:xfrm>
          <a:prstGeom prst="rect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2700000">
            <a:off x="-1188720" y="3474720"/>
            <a:ext cx="2377440" cy="2377440"/>
          </a:xfrm>
          <a:prstGeom prst="rect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2700000">
            <a:off x="6675120" y="457200"/>
            <a:ext cx="292608" cy="292608"/>
          </a:xfrm>
          <a:prstGeom prst="rect">
            <a:avLst/>
          </a:prstGeom>
          <a:solidFill>
            <a:srgbClr val="C5CDE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2700000">
            <a:off x="6263640" y="256032"/>
            <a:ext cx="182880" cy="182880"/>
          </a:xfrm>
          <a:prstGeom prst="rect">
            <a:avLst/>
          </a:prstGeom>
          <a:solidFill>
            <a:srgbClr val="A8895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2700000">
            <a:off x="594360" y="4343400"/>
            <a:ext cx="365760" cy="365760"/>
          </a:xfrm>
          <a:prstGeom prst="rect">
            <a:avLst/>
          </a:prstGeom>
          <a:solidFill>
            <a:srgbClr val="C5CDE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325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 · 实操一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8288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西岭需求调研 →《解决方案框架》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143000" y="2834640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Echo · Discovery 阶段 · 头脑风暴（关键判断不用 AI）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solidFill>
            <a:srgbClr val="5C6BC0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读材料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挖风险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19856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理干系人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26864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拆场景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25312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25312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33872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32320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0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972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1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实操目标与产出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扮演 Echo，把“整套智能化”拆成能落地的子场景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6537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65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379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用三个脚手架：挖风险 · 理干系人 · 选型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414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挖出客户没说破的四类风险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7238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449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产出《解决方案框架》+ ≤150 字业务汇报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08825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808825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808825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 = 后续所有 Delta 实操的“施工任务书”：三场景 + 选型 + 优先级 + 风险应对 + 数据不出域方案。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93457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293457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293457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一句话：这一步训练判断力不是产出力——关键判断不用 AI，判断与取舍必须自己来。</a:t>
            </a:r>
            <a:endParaRPr lang="en-US" sz="1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任务场景：西岭市民服务平台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" cy="82296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6187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陈主任撂下一句话：“用 AI 把这一整套都智能化了”——然后等你们给方案，他下个月要去市里汇报。这一句就是全部正式需求。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920240" cy="141732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拆场景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290779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把一句模糊大需求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拆成能落地的子场景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7480" y="2377440"/>
            <a:ext cx="1920240" cy="141732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97480" y="237744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选技术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07208" y="290779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每场景选对路线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/ RAG /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377440"/>
            <a:ext cx="1920240" cy="141732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挖风险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56048" y="290779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业务 / 合规 / ROI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材料里都埋了线索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95160" y="2377440"/>
            <a:ext cx="1920240" cy="141732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237744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出框架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04888" y="290779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《解决方案框架》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实操二三四的施工任务书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1605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顺带收集候选业务语义（对象 / 关系 / 动作）——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只收集、不做最终本体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用于后续做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回注的输入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为什么这一步不用 AI？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15087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实操一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脑子 + 白板 + 便签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判断力（前脑）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实操二三四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opencode + AI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施工力（后手）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的核心工具从来不是键盘，是脑子和嘴。一上来就靠 AI 追问、拆场景、选型，你训练的是“会用 AI”，掩盖的是 FDE 最不可替代的能力。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411480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从脏材料里挖真需求 · 在争论中暴露盲区 · 凭判断力做取舍——这些，AI 替不了你。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本实操六个环节流程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6949440" cy="47548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188720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11887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认识战队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/ Delta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664208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1755648"/>
            <a:ext cx="6949440" cy="47548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1755648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175564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读材料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个人独立判断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2231136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" y="2322576"/>
            <a:ext cx="6949440" cy="47548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2322576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25880" y="232257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脑暴一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232257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挖风险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2798064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97280" y="2889504"/>
            <a:ext cx="6949440" cy="47548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7280" y="2889504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25880" y="28895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脑暴二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28895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理干系人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3364992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97280" y="3456432"/>
            <a:ext cx="6949440" cy="47548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97280" y="3456432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25880" y="34564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脑暴三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34564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拆场景 + 选型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3931920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97280" y="4023360"/>
            <a:ext cx="6949440" cy="47548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97280" y="4023360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25880" y="4023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汇报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754880" y="40233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面向陈主任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6177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46177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铁律：先独立、后碰撞——每一步先个人独立判断打底，再全组讨论，一上来就开口会被声量大的人带偏。</a:t>
            </a:r>
            <a:endParaRPr lang="en-US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产出物清单（每组一份）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55893"/>
            <a:ext cx="7863840" cy="68580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55893"/>
            <a:ext cx="54864" cy="685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55893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风险墙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49040" y="1155893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脑暴一：四类失败模式风险墙（拍照）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933133"/>
            <a:ext cx="7863840" cy="68580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933133"/>
            <a:ext cx="54864" cy="685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933133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干系人图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49040" y="1933133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脑暴二：权力 × 兴趣图（拍照）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10373"/>
            <a:ext cx="7863840" cy="68580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710373"/>
            <a:ext cx="54864" cy="68580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710373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解决方案框架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49040" y="2710373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★核心产出：三场景 + 选型 + 优先级（照模板）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87613"/>
            <a:ext cx="7863840" cy="68580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487613"/>
            <a:ext cx="54864" cy="685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487613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汇报话术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49040" y="3487613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字全业务语言方案汇报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65668"/>
            <a:ext cx="8046720" cy="402336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365668"/>
            <a:ext cx="45720" cy="402336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39" y="4365668"/>
            <a:ext cx="77014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《解决方案框架》是本实操最重要的产出——它是实操二三四的施工任务书，下一步你将作为 Delta 照着它施工。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完成标准（DoD）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24358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Echo/Delta 定位并做了组内分工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0934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每人独立写了 ≥4 张判断便签（先独立后碰撞）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08483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482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风险墙：四类失败模式各 ≥1 条本项目具体风险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505456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688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450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干系人图：四层决策链全覆盖，市数据局和小王策略正确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292608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8712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解决方案框架：三场景 + 各自选型理由 + 施工优先级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3467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31012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2918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每场景填了成功标准八字段，门槛有来源或标注“教学初始值”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3767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7307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7124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字全业务语言汇报，讲清方案且无技术黑话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18795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15137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1330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个自查追问全部在组内讨论过</a:t>
            </a:r>
            <a:endParaRPr lang="en-US" sz="11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实操一 · 红线落地与小结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角色：把一句模糊需求拆成可落地子场景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三脚手架：挖风险 / 理干系人 / 选型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挖出四类风险：数据 / 业务 / 合规 / ROI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产出《解决方案框架》= 后续施工任务书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≤150 字业务汇报；关键判断不用 AI</a:t>
            </a:r>
            <a:endParaRPr lang="en-US" sz="13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工作法 · AI Coding 与工程纪律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产能瓶颈 · 建层金字塔 · AI Coding 两半 · gstack 八环节 · 四条纪律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为什么需要 AI：三个产能瓶颈；主动采用 + 驾驭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6537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65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379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视角金字塔：选定后每层要建什么、代价多大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414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</a:t>
            </a:r>
            <a:r>
              <a:rPr lang="en-US" sz="135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：Vibe </a:t>
            </a: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驱动 × harness 约束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07238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449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八环节 + SPEC 驱动 + 四条工程纪律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484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分钟最小 gstack 演练；动态速查去哪查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41871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441871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441871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本章是第 8 / 10 / 12 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章三个施工实操共享的方法论底座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FDE 需要 AI：主动拥抱、更要会驾驭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Technology（器）维度的三个产能瓶颈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避免两种偏差：AI 万能论 / AI 与己无关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人能判断、AI 能执行——落到施工侧</a:t>
            </a:r>
            <a:endParaRPr lang="en-US" sz="15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的价值从哪来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63513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63513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63513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交付速度 × 交付质量 × 可复用性（能力回注）——不是写了多少行代码。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888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放回 PPT 与四阶段：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28312"/>
            <a:ext cx="256032" cy="256032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40029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是器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0" y="240029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的 AI 干活能力 = 技术维度的重写——工具变了，判断在人不变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76952"/>
            <a:ext cx="256032" cy="256032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94893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主导段落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294893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Prototype（双角色）→ Build（主导）→ Scale（自运营 + 回注）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25592"/>
            <a:ext cx="256032" cy="256032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349757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 回注不是可选项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349757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不做能力回注，Delta 就退化成“会写码的外包”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83376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4183376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18337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 Delta，本质是赋能 Prototype / Build / Scale 三个阶段的产能。</a:t>
            </a:r>
            <a:endParaRPr lang="en-US" sz="1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维度的三个产能瓶颈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9202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时间瓶颈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客户现场时间有限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几周内从零做出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“可演示 + 能上生产”的最小系统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9202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广度瓶颈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Delta 要覆盖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数据管道 / 后端 / 前端 / AI / 部署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人力不可能全栈精通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9202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复用瓶颈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能力回注四步法要求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“本次经验”变“下次可复用资产”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纯手工识别与抽象成本高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9319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三者都落在 Technology（器）维度、集中在 Prototype / Build 段——恰是 Delta 的主战场。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立两个方向，避免两种偏差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828800"/>
          </a:xfrm>
          <a:prstGeom prst="rect">
            <a:avLst/>
          </a:prstGeom>
          <a:solidFill>
            <a:srgbClr val="FDECEA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" cy="182880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偏差一</a:t>
            </a: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"AI </a:t>
            </a:r>
            <a:r>
              <a:rPr lang="en-US" sz="1450" b="1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万能论</a:t>
            </a: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"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以为有 AI 就不需要懂业务、懂现场的工程师——AI 解决“写得快”，不解决“知道该写什么、有没有人用”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182880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54864" cy="18288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偏差二</a:t>
            </a: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"AI </a:t>
            </a:r>
            <a:r>
              <a:rPr lang="en-US" sz="1450" b="1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与己无关</a:t>
            </a: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"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5983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以为数据管道、异构集成、现场推动 AI 碰不到——AI 正系统性地吃掉 FDE 工作里最可标准化、最重复的部分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8046720" cy="73152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64008" cy="7315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结论：AI 放大 FDE 的“复合能力”——让懂业务的人写代码更快、让写代码的人更快理解业务。主旋律：主动采用 AI，同时驾驭 AI。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角色演变：写代码 → 编排 AI + 把关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15087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谁负责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判断（前脑）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挖真需求 · 做取舍 · 定验收口径 · 审查 AI 产出 · 拍板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执行（后手）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+ 人在 checkpoint 把关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跑流程 · 写样板代码 · 做重复任务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Delta：既能“获得 AI 赋能”（会用 coding agent），也能“驾驭 AI”（懂选型、防翻车、守质量闭环）。对 Echo：同样要会用 AI 提效、审 AI 洞察。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022728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022728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0227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接力叙事：Echo 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定方向（选层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）→ Delta 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定落地（建层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）——金字塔是分界线也是契合点。</a:t>
            </a:r>
            <a:endParaRPr lang="en-US" sz="1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能力四层级金字塔：Echo 选层、Delta 建层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视角：每一层要建什么、代价多大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从最简单开始：先做最小验证，升级必须带证据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选层与建层，是同一张图的两半</a:t>
            </a:r>
            <a:endParaRPr lang="en-US" sz="15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视角：每一层要建什么、代价多大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1280160"/>
            <a:ext cx="6766560" cy="713232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64008" cy="713232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层 · Agent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12801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编排框架 + 工具定义 + 状态管理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代码量与调试量最高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993392"/>
            <a:ext cx="0" cy="128016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2121408"/>
            <a:ext cx="6766560" cy="713232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2121408"/>
            <a:ext cx="64008" cy="713232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21214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层 · 微调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931920" y="21214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训练管线 + 标注数据 + GPU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系统性改动 · 周期最长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0" cy="128016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88720" y="2962656"/>
            <a:ext cx="6766560" cy="713232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88720" y="2962656"/>
            <a:ext cx="64008" cy="71323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7320" y="296265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层 · RAG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31920" y="296265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解析→分块→向量库→检索→引用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建索引 · 管版本 · 防幻觉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675888"/>
            <a:ext cx="0" cy="128016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88720" y="3803904"/>
            <a:ext cx="6766560" cy="713232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88720" y="3803904"/>
            <a:ext cx="64008" cy="713232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7320" y="380390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层 · 提示词工程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31920" y="380390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API 调用 + 一段好提示词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无检索无训练 · 见效最快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685271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用业务判据回答“该不该用这层”，Delta 回答“选定之后要建什么、付出什么代价”。使用优先级永远是“从第 1 层开始”。</a:t>
            </a:r>
            <a:endParaRPr lang="en-US" sz="105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逐层：实现形态 · 工程代价 · 验收方式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349166"/>
              </p:ext>
            </p:extLst>
          </p:nvPr>
        </p:nvGraphicFramePr>
        <p:xfrm>
          <a:off x="348675" y="1142684"/>
          <a:ext cx="8446650" cy="2514600"/>
        </p:xfrm>
        <a:graphic>
          <a:graphicData uri="http://schemas.openxmlformats.org/drawingml/2006/table">
            <a:tbl>
              <a:tblPr/>
              <a:tblGrid>
                <a:gridCol w="1055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7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3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 要建什么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工程代价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一次调用 + 好提示词（7 项信息块）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分类/</a:t>
                      </a:r>
                      <a:r>
                        <a:rPr lang="en-US" sz="1150" dirty="0" err="1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抽取准确率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RAG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解析→分块→向量化→检索→引用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中：建索引、管版本、防幻觉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 + </a:t>
                      </a:r>
                      <a:r>
                        <a:rPr lang="en-US" sz="1150" dirty="0" err="1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可追溯率双指标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微调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训练管线：标注数据 + GPU + 训练迭代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高：数据与算力门槛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评估集指标 + </a:t>
                      </a:r>
                      <a:r>
                        <a:rPr lang="en-US" sz="1150" dirty="0" err="1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行为稳定性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Agent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编排框架 + 工具定义 + 状态/权限管理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最高：调用次数不定、需 HITL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端到端轨迹 + </a:t>
                      </a:r>
                      <a:r>
                        <a:rPr lang="en-US" sz="1150" dirty="0" err="1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敏感件零漏判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48675" y="394078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48675" y="394078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7274" y="3940780"/>
            <a:ext cx="775673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注意区分：coding agent（帮你写代码的开发工具）≠ 第 4 层 Agent（交付给客户的技术方案）——同名不同物。</a:t>
            </a:r>
            <a:endParaRPr lang="en-US" sz="1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“从最简单开始”的施工含义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" cy="68580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618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能用提示词不上 RAG，能用 RAG 不微调，能用 Workflow 不上 Agent——先做最小验证，升级必须带证据（量化差距），不是“感觉不够”。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2154696"/>
            <a:ext cx="6949440" cy="438912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2154696"/>
            <a:ext cx="54864" cy="438912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21546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· 选层（定方向）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1546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业务判据决定提示词</a:t>
            </a: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RAG / 微调 / Agent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2593608"/>
            <a:ext cx="0" cy="64008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2657616"/>
            <a:ext cx="6949440" cy="438912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" y="2657616"/>
            <a:ext cx="54864" cy="43891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25880" y="265761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 · 同一张金字塔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65761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说“第 2 层 RAG”，Delta 就明白要建什么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096528"/>
            <a:ext cx="0" cy="64008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7280" y="3160536"/>
            <a:ext cx="6949440" cy="438912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97280" y="3160536"/>
            <a:ext cx="54864" cy="438912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25880" y="316053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· 建层（定落地）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1605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把选定的层实现出来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3599448"/>
            <a:ext cx="0" cy="64008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97280" y="3663456"/>
            <a:ext cx="6949440" cy="438912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97280" y="3663456"/>
            <a:ext cx="54864" cy="438912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25880" y="36634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可交付系统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66345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落地成果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258828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4258828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2588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分工以金字塔为界，协作以金字塔为契合点——选层与建层，是同一张图的两半。</a:t>
            </a:r>
            <a:endParaRPr lang="en-US" sz="1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</a:t>
            </a:r>
            <a:r>
              <a:rPr lang="en-US" sz="2400" b="1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</a:t>
            </a:r>
            <a:r>
              <a:rPr lang="en-US" sz="24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：Vibe </a:t>
            </a: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驱动 × harness 工程约束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驱动层：怎么让 coding agent 听话地写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约束层：写了之后怎么不翻车、可验收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 分类 </a:t>
            </a:r>
            <a:r>
              <a:rPr lang="en-US" sz="150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Vibe </a:t>
            </a: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五原则 · 工具选型</a:t>
            </a:r>
            <a:endParaRPr lang="en-US" sz="15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</a:t>
            </a:r>
            <a:r>
              <a:rPr lang="en-US" sz="260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的两</a:t>
            </a:r>
            <a:r>
              <a:rPr lang="zh-CN" alt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个核心组件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468880" y="1234440"/>
            <a:ext cx="4206240" cy="59436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468880" y="12344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= Delta 释放 AI 潜力的完整手段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28608"/>
            <a:ext cx="3931920" cy="15544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28608"/>
            <a:ext cx="54864" cy="155448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566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驱动层 </a:t>
            </a:r>
            <a:r>
              <a:rPr lang="en-US" sz="1450" b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Vibe </a:t>
            </a: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59553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怎么让 coding agent 听话地写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描述意图 → </a:t>
            </a:r>
            <a:r>
              <a:rPr lang="en-US" sz="115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审查判断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2028608"/>
            <a:ext cx="3931920" cy="15544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2028608"/>
            <a:ext cx="54864" cy="155448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1566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约束层 · harness（gstack）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92040" y="259553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写了之后怎么不翻车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受控执行 · 可验收 · </a:t>
            </a:r>
            <a:r>
              <a:rPr lang="en-US" sz="115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73404"/>
            <a:ext cx="8046720" cy="54864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773404"/>
            <a:ext cx="64008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77340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光有驱动层、没有约束层就是“</a:t>
            </a:r>
            <a:r>
              <a:rPr lang="en-US" sz="1200" b="1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</a:t>
            </a:r>
            <a:r>
              <a:rPr lang="en-US" sz="1200" b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vibe”——</a:t>
            </a: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写得快但不可验收、不可追溯。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86636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4486636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48663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一词由 Karpathy 于 2025 年 2 月提出；gstack 是 harness 类里的一个开源实现（Garry Tan）。</a:t>
            </a:r>
            <a:endParaRPr lang="en-US" sz="1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agent：定义、分类与共性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767015"/>
              </p:ext>
            </p:extLst>
          </p:nvPr>
        </p:nvGraphicFramePr>
        <p:xfrm>
          <a:off x="548640" y="1234440"/>
          <a:ext cx="8046720" cy="1508760"/>
        </p:xfrm>
        <a:graphic>
          <a:graphicData uri="http://schemas.openxmlformats.org/drawingml/2006/table">
            <a:tbl>
              <a:tblPr/>
              <a:tblGrid>
                <a:gridCol w="195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4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coding agent（工具类）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编码工具：厂商绑定或独立开源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 / Codex / opencode / Trae / Qoder / WorkBuddy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harness（方法/产品类）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把产出约束进受控工程流程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gstack（本书演示）/ OpenSpec / LangGraph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怎么分类：按归属（厂商绑定 vs 独立开源如 opencode）· 按能力侧重（纯 coding vs 全能型）· 按形态（CLI / IDE 助手 / 平台智能体）。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3727684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3727684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372768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共性：无论哪家，coding agent 都通过“技能 / 插件（Skills / Plugins）”获得增强能力（Anthropic 2025-10 发布 Agent Skills 开放标准）。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3220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本书默认 opencode：独立开源、模型无关，可接国产 / 本地模型——呼应“数据不出域”红线。</a:t>
            </a:r>
            <a:endParaRPr lang="en-US" sz="105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Coding 五原则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0460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046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314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描述意图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200400" y="113145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说结果，不说怎么实现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6297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8629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898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给足上下文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00400" y="17898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· 技术栈 · 约束显式给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52134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5213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481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分步迭代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200400" y="24481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框架→核心→辅助，每步验证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17970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1797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065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逐行审查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200400" y="310655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读懂每一行，找逻辑/安全/边界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83807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8380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7649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解释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200400" y="376492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看不懂就让 AI 解释——最快学习路径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377572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377572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37757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最关键的是“逐行审查”与“描述意图”——它们保证：是人在驾驭 AI，不是 AI 替人做主。</a:t>
            </a:r>
            <a:endParaRPr lang="en-US" sz="12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工具清单（速查）与选型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 官方 CLI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终端自主编码 · Skills/MCP · $20/$100/$200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/ CLI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coding agent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云沙箱改码跑测提 PR · Free~$100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opencode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独立开源终端 agent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模型无关 · 可接国产/本地模型 · 免费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Trae（字节）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全能型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IDE 助手 + 智能体 · 免费~699 元/月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Qoder（阿里）/ WorkBuddy（腾讯）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编程 / 办公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国内直连 · 免费版起（价格动态）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选工具三问：①能否连境外？→ 不能走国产/自部署 ②编程还是办公为主？→ 决定 CLI/IDE 或办公智能体 ③数据合规？→ 内网/不出域 → 国产 + 自部署开源模型</a:t>
            </a:r>
            <a:endParaRPr lang="en-US" sz="11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harness：从理念到 gstack 实现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执行约束进受控工程流程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驱动 + 八环节流水线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八环节命令 · 15 分钟最小演练</a:t>
            </a:r>
            <a:endParaRPr lang="en-US" sz="15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理念：怎么验证、怎么记录、怎么把关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06040" cy="118872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060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344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自己出题自己考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自己造测试数据 → 需外部给定测试集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606040" cy="118872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6060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344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自由发挥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脑补场景、发明验收口径 → 需 SPEC 写死边界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06040" cy="118872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060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344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一把梭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一口气跑完才汇报 → 需一环一停、人拍板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通用原则（任何 harness 都应满足）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1920240" cy="105156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192024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受控执行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35935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环节化推进，每环节停下审查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3154680"/>
            <a:ext cx="1920240" cy="105156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697480" y="3154680"/>
            <a:ext cx="192024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9748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外部验证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88920" y="35935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测试/评测数据外部给定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154680"/>
            <a:ext cx="1920240" cy="105156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3154680"/>
            <a:ext cx="192024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37760" y="35935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每环节产出落盘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95160" y="3154680"/>
            <a:ext cx="1920240" cy="105156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95160" y="3154680"/>
            <a:ext cx="192024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951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人机回环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86600" y="35935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拍板点由人决策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48056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44805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是当前 AI 工程主流方向（Anthropic 2025-11《Effective Harnesses》、OpenAI/微软/DeepSeek 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均在押注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驱动：harness 的第一条通用规范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" cy="64008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6187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 build 之前，先写死一份规格（SPEC）——build 阶段不重复讨论技术参数，只严格按 SPEC 实现。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2276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边界（No-Go）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26791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本阶段刻意不做的事——防止自由发挥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214884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47288" y="2276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26791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输入/输出形状、字段、类型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21488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36208" y="22768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26791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什么样算成功（如准确率 ≥85%）——防止自己发明验收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是“代码的压缩表示”——写死了，build 就是执行，这正是“施工力”和“随意写代码”的区别。</a:t>
            </a:r>
            <a:endParaRPr lang="en-US" sz="12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工程流水线通用骨架：八环节，一环一停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58996"/>
            <a:ext cx="8046720" cy="38404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8996"/>
            <a:ext cx="45720" cy="38404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589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要不要做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51760" y="10589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确认需求与范围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66560" y="10589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443044"/>
            <a:ext cx="0" cy="7315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16196"/>
            <a:ext cx="8046720" cy="38404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516196"/>
            <a:ext cx="45720" cy="38404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5161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死磕边界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1760" y="15161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No-Go · 数据模型 · 验收口径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0" y="15161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900244"/>
            <a:ext cx="0" cy="7315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1973396"/>
            <a:ext cx="8046720" cy="38404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1973396"/>
            <a:ext cx="45720" cy="38404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19733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决策拍板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51760" y="19733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暴露两可决策，列选项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19733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357444"/>
            <a:ext cx="0" cy="7315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2430596"/>
            <a:ext cx="8046720" cy="38404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2430596"/>
            <a:ext cx="45720" cy="38404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24305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做出来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651760" y="24305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SPEC 实现，每模块即测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66560" y="24305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审查者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2814644"/>
            <a:ext cx="0" cy="7315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2887796"/>
            <a:ext cx="8046720" cy="384048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2887796"/>
            <a:ext cx="45720" cy="384048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28877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找隐患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51760" y="28877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P0–P3 分级，能跑但会出事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66560" y="28877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审查者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3271844"/>
            <a:ext cx="0" cy="7315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3344996"/>
            <a:ext cx="8046720" cy="38404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3344996"/>
            <a:ext cx="45720" cy="38404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3449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测体验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651760" y="33449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 + 边界输入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766560" y="33449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验收者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0" y="3729044"/>
            <a:ext cx="0" cy="7315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8640" y="3802196"/>
            <a:ext cx="8046720" cy="384048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8640" y="3802196"/>
            <a:ext cx="45720" cy="384048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" y="38021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收尾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651760" y="38021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 + CHANGELOG + README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66560" y="38021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收尾者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0" y="4186244"/>
            <a:ext cx="0" cy="73152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8640" y="4259396"/>
            <a:ext cx="8046720" cy="38404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8640" y="4259396"/>
            <a:ext cx="45720" cy="38404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1520" y="42593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复盘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651760" y="42593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 / 未覆盖 / 行动项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766560" y="42593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复盘者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470916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48640" y="470916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77239" y="4709160"/>
            <a:ext cx="78605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三原则：人的判断不可替代 · 每环节产出都是文件（可追溯可复用）· 不必所有改动都走全流程（做错代价大才走）。</a:t>
            </a:r>
            <a:endParaRPr lang="en-US" sz="12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gstack：harness 的一个开源实现（Garry Tan）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172030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环节（通用）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gstack 命令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环节（通用）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gstack 命令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要不要做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/office-hours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12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找隐患</a:t>
                      </a:r>
                      <a:endParaRPr lang="en-US" sz="1150" b="1" kern="1200" dirty="0">
                        <a:solidFill>
                          <a:srgbClr val="3949AB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/review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死磕边界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/spec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12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测体验</a:t>
                      </a:r>
                      <a:endParaRPr lang="en-US" sz="1150" b="1" kern="1200" dirty="0">
                        <a:solidFill>
                          <a:srgbClr val="3949AB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/qa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决策拍板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/autoplan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12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收尾</a:t>
                      </a:r>
                      <a:endParaRPr lang="en-US" sz="1150" b="1" kern="1200" dirty="0">
                        <a:solidFill>
                          <a:srgbClr val="3949AB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/ship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做出来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自然语言（build）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1200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复盘</a:t>
                      </a:r>
                      <a:endParaRPr lang="en-US" sz="1150" b="1" kern="1200" dirty="0">
                        <a:solidFill>
                          <a:srgbClr val="3949AB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/retro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把单次 AI 会话扩成“虚拟团队流水线”（官方 23 个 opinionated tools；“八环节”为教材对主干命令链的归纳）。支持跨 agent 运行：Claude Code / Codex / opencode 均可作 host。</a:t>
            </a:r>
            <a:endParaRPr lang="en-US" sz="10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gstack 演练：15 分钟可选动手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141732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996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office-hours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分钟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只问 2 个边界问题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96312" y="192024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920240" cy="141732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4996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No-Go + 验收口径，3 行以内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152" y="192024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1920240" cy="141732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4996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分钟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最简实现，逐行读一遍代码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93992" y="192024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1371600"/>
            <a:ext cx="1920240" cy="141732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137160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4996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19202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分钟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一句话复盘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42900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3429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演练要求：刻意练习“走完一环停下汇报、获许可再流转”；15 分钟到点即停，没走完的写进 retro。环境未就绪可用“纸上推演版”。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目的：把八环节的节奏“跑一遍手感”——尤其体会“一环一停、拍板点列选项”为什么能防失控。</a:t>
            </a:r>
            <a:endParaRPr lang="en-US" sz="11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四条工程纪律：驾驭 AI Coding，防止翻车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纪律一：测试数据必须外部给定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纪律二：启动提示词写清 7 项信息块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纪律三：驱动指令把流程纪律“焊”进执行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纪律四：数据与评测证据独立、可追溯、可复现</a:t>
            </a:r>
            <a:endParaRPr lang="en-US" sz="15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纪律一 · 测试数据必须外部给定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5720" cy="109728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把固定的测试数据直接写进启动提示词、让 coding agent 落盘成 CSV，并明确“不得自行改动或重新生成”。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 coding agent 自己出题自己考——否则验收无意义。</a:t>
            </a:r>
            <a:endParaRPr lang="en-US" sz="1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纪律二 · 启动提示词 7 项信息块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355850"/>
              </p:ext>
            </p:extLst>
          </p:nvPr>
        </p:nvGraphicFramePr>
        <p:xfrm>
          <a:off x="548640" y="1090636"/>
          <a:ext cx="8046720" cy="32918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缺了会怎样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背景与角色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coding agent 脑补客户和场景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要做什么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发明错误的接口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输入输出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无法验收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技术选型（含理由）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又问你要不要用 RAG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数据现状 + 测试集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走传统 ML 死路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验收口径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自己发明一套验收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约束与边界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自由发挥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52628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5262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本质：假设一个完全不熟悉项目的人接手，他需要知道什么才能“不重开讨论、直接开干”——coding agent 是最“难伺候的新人”，不是会猜的专家。</a:t>
            </a:r>
            <a:endParaRPr lang="en-US" sz="12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纪律三 · 驱动指令把流程纪律“焊”进执行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按八环节逐步执行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234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office-hours → … → retro，顺序不跳、不简化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9933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禁止全自动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走完一环停下汇报，获许可才流转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拍板点列选项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 / 门槛 / 兜底，列出选项与利弊等你选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环节产出落盘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每环节对应文件落盘当前目录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2976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为什么“一环一停、拍板点列选项”如此关键：一口气跑完就失去所有中途纠偏机会——让 AI“一小步一确认”是把失控风险控制住。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注入启动提示词时写明以上驱动指令，从 /office-hours </a:t>
            </a:r>
            <a:r>
              <a:rPr lang="en-US" sz="950" dirty="0" err="1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</a:t>
            </a:r>
            <a:endParaRPr lang="en-US" sz="9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纪律四 · 数据与评测证据独立、可追溯、可复现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0723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来源与授权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数据从哪来、有无授权记录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标签规范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标注规则成文，检查一致性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开发/盲测隔离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调参只用开发集；验收集在 Prompt 冻结后使用，标签由讲师/脚本持有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版本与血缘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数据集带版本号、生成脚本、改动记录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评测污染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评测集不得出现在训练、提示词或检索上下文中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漂移与回流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记录线上与评测分布差异，设计反馈回流路径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反模式：把“开发集调出的结果”当“最终验收结果”上报；偷偷改了测试数据却说没改——验收将失去意义。</a:t>
            </a:r>
            <a:endParaRPr lang="en-US" sz="12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工作法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为什么需要 AI：三个产能瓶颈 → 赋能 + 驾驭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金字塔：Echo 选层（定方向）· Delta 建层（定落地）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两半：Vibe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Coding 驱动 × harness 约束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八环节 + SPEC 驱动 + 四条工程纪律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分钟最小演练：证据独立、可追溯、可复现</a:t>
            </a:r>
            <a:endParaRPr lang="en-US" sz="13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94960" y="91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7000" dirty="0"/>
          </a:p>
        </p:txBody>
      </p:sp>
      <p:sp>
        <p:nvSpPr>
          <p:cNvPr id="5" name="Shape 3"/>
          <p:cNvSpPr/>
          <p:nvPr/>
        </p:nvSpPr>
        <p:spPr>
          <a:xfrm rot="2700000">
            <a:off x="7315200" y="-1097280"/>
            <a:ext cx="3108960" cy="3108960"/>
          </a:xfrm>
          <a:prstGeom prst="rect">
            <a:avLst/>
          </a:prstGeom>
          <a:solidFill>
            <a:srgbClr val="FFFFFF">
              <a:alpha val="7000"/>
            </a:srgbClr>
          </a:solidFill>
          <a:ln w="1651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2700000">
            <a:off x="7818120" y="-594360"/>
            <a:ext cx="2103120" cy="2103120"/>
          </a:xfrm>
          <a:prstGeom prst="rect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2700000">
            <a:off x="-1188720" y="3474720"/>
            <a:ext cx="2377440" cy="2377440"/>
          </a:xfrm>
          <a:prstGeom prst="rect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2700000">
            <a:off x="6675120" y="457200"/>
            <a:ext cx="292608" cy="292608"/>
          </a:xfrm>
          <a:prstGeom prst="rect">
            <a:avLst/>
          </a:prstGeom>
          <a:solidFill>
            <a:srgbClr val="C5CDE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2700000">
            <a:off x="6263640" y="256032"/>
            <a:ext cx="182880" cy="182880"/>
          </a:xfrm>
          <a:prstGeom prst="rect">
            <a:avLst/>
          </a:prstGeom>
          <a:solidFill>
            <a:srgbClr val="A8895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2700000">
            <a:off x="594360" y="4343400"/>
            <a:ext cx="365760" cy="365760"/>
          </a:xfrm>
          <a:prstGeom prst="rect">
            <a:avLst/>
          </a:prstGeom>
          <a:solidFill>
            <a:srgbClr val="C5CDE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325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 · 实操二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8288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诉求智能分类器（场景 A）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143000" y="2834640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Delta · Prototype 阶段 · AI 施工（opencode + gstack）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solidFill>
            <a:srgbClr val="5C6BC0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写提示词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跑八环节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19856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验收演示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26864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复盘交接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972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1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实操目标与产出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把方案框架翻译成高质量启动提示词（7 项信息块）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6537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65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379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按 gstack 八环节自动跑，你在 checkpoint 把关 / 拍板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414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验证“一次 LLM 调用做文本分类”是最简路径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07238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449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产出可运行系统 + 交付件 + 演示级验收声明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产出：市民诉求五分类系统（住建/人社/市监/城管/其他）+ Streamlit 验证面板 + 完整 gstack 交付件（SPEC/代码/review/qa-report/retro）。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81728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681728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6817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一句话：Echo 人脑挖需求出框架；Delta 把它翻译成启动提示词 → Agent 跑 8 环节 → 你在 checkpoint 把关。</a:t>
            </a:r>
            <a:endParaRPr lang="en-US" sz="12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这一轮在 Ch7 坐标系里的位置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9202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层 · 提示词工程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LLM 调用 + 好提示词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 RAG（要检索）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 Agent（要多步决策）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9202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从最简单开始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2029968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能做分类就不上 RAG/Agent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用最低复杂度交付客户需要的价值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9202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低成本验证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2029968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坡度第一级：先证明 AI 方案可行</a:t>
            </a:r>
            <a:endParaRPr lang="en-US" sz="11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跑通“描述意图→AI 执行→人把关”闭环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数据不出域：教学用 API；若客户数据不能出域 → 切本地模型 / 私有化（第 13 章路径），提示词 / 逻辑不变。</a:t>
            </a:r>
            <a:endParaRPr lang="en-US" sz="12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任务书：照第 6 章《解决方案框架》场景 A 施工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82880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828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技术方案（已定）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文本分类：输入一句诉求 → 输出类别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（不是 RAG、不是 Agent）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技术栈：opencode + gstack + DeepSeek + Streamlit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828800"/>
          </a:xfrm>
          <a:prstGeom prst="rect">
            <a:avLst/>
          </a:prstGeom>
          <a:solidFill>
            <a:srgbClr val="E4EFE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54864" cy="182880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验收口径（已定）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1874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自信区准确率 ≥85%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转人工比例 ≤30%（转人工不算错）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最小工具契约（供后续复用）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8046720" cy="402336"/>
          </a:xfrm>
          <a:prstGeom prst="rect">
            <a:avLst/>
          </a:prstGeom>
          <a:solidFill>
            <a:srgbClr val="E8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分类能力封装为 classify_request 工具：输入诉求全文 → 输出类别 + 置信度 + 是否建议转人工。第 12 章与实操四B 会把它当“工具”调用（什么情况该调、什么情况跳过——是 FDE 判断）。</a:t>
            </a:r>
            <a:endParaRPr lang="en-US" sz="12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实操二 · DoD 与小结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方案框架 → 启动提示词（7 项信息块）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跑 gstack 八环节，checkpoint 把关拍板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LLM 调用做分类：从最简单开始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🔺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转人工不算错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人能判断、AI 能执行第一落点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可运行系统 + 完整交付件 + 演示级验收</a:t>
            </a:r>
            <a:endParaRPr lang="en-US" sz="13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方法 · 答案可追溯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 · 核心链路 · 选型边界 · 双指标验收 · 最小预实验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核心思想：检索外部信息补足模型语料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 RAG 核心链路（解析→分块→向量化→向量库→检索→生成+引用）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2257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选型判断：RAG / 超长上下文 / 微调 / 关键词 / 一次调用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9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 · 分块 · Embedding · 向量库 · 检索增强的选型与参数判读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56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“答案准确率 + 来源可追溯率”双指标验收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20–30 分钟最小 RAG 预实验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红线本处落地：答案可追溯——政务 AI 准入门槛（教材经验口径）。第 10 章实操三把本章当场做出来。</a:t>
            </a:r>
            <a:endParaRPr lang="en-US" sz="12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是什么：检索外部资料补足模型语料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给大模型补上“它不知道的信息”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三步原理：检索 → 增强 → 生成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解决三问题：记忆漂移 · 成本 · 可追溯</a:t>
            </a:r>
            <a:endParaRPr lang="en-US" sz="15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与微调：两条互补路径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737360"/>
          </a:xfrm>
          <a:prstGeom prst="rect">
            <a:avLst/>
          </a:prstGeom>
          <a:solidFill>
            <a:srgbClr val="DBE4F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" cy="17373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· 开卷式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385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回答时临时检索外部资料，拼进提示词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答案带出处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适合：资料常更新 · 需溯源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 = 重建索引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1737360"/>
          </a:xfrm>
          <a:prstGeom prst="rect">
            <a:avLst/>
          </a:prstGeom>
          <a:solidFill>
            <a:srgbClr val="F5ECE0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54864" cy="173736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4996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 · 背书式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9385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把信息“学进”模型参数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之后凭参数作答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适合：行为/风格要固化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 = </a:t>
            </a:r>
            <a:r>
              <a:rPr lang="en-US" sz="1050" dirty="0" err="1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重新训练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611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打个比方：开卷（RAG）考试翻书找答案、能指出依据；背书（微调）把</a:t>
            </a:r>
            <a:r>
              <a:rPr lang="zh-CN" alt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知识内化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模型知识来自训练语料——训练时没见过的信息，模型要么答不出，要么凭印象编。</a:t>
            </a:r>
            <a:endParaRPr lang="en-US" sz="115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三步工作原理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194560" cy="137160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19456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996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问题变查询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找最相关 K 个片段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62072" y="1874520"/>
            <a:ext cx="29260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1371600"/>
            <a:ext cx="2194560" cy="137160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1371600"/>
            <a:ext cx="219456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14996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增强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64408" y="192024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片段 + 问题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组装提示词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76672" y="1874520"/>
            <a:ext cx="29260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1371600"/>
            <a:ext cx="2194560" cy="137160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0" y="1371600"/>
            <a:ext cx="219456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14996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生成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79008" y="192024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基于片段作答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标注出处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2629" y="306324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2629" y="3063240"/>
            <a:ext cx="54864" cy="9144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5509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离线一次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5509" y="35021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 → 分块 → 向量化 → 向量库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13149" y="306324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13149" y="3063240"/>
            <a:ext cx="54864" cy="9144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96029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在线多次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96029" y="35021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问题向量化 → top-K 检索 → 组装 → 生成+引用</a:t>
            </a:r>
            <a:endParaRPr lang="en-US" sz="11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同时解决三类问题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0116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记忆漂移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799" y="1920240"/>
            <a:ext cx="23959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政策一更新，模型凭旧记忆答错 </a:t>
            </a:r>
            <a:r>
              <a:rPr lang="en-US" sz="11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答案来自最新索引库，更新只需重建索引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20116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整本手册塞进上下文 </a:t>
            </a:r>
            <a:r>
              <a:rPr lang="en-US" sz="11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只检索最相关一小段，成本与延迟可控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20116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答错没人知道依据 </a:t>
            </a:r>
            <a:r>
              <a:rPr lang="en-US" sz="1100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答案强制带出处（文号 + 条款号），可核对、可免责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“答案可追溯”是政务 AI 的准入门槛：答错要负责——来源引用不是锦上添花，而是上线硬门槛。</a:t>
            </a:r>
            <a:endParaRPr lang="en-US" sz="1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知识问答场景：这层工具该用哪一种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017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政策问答为何这样选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检索片段 → 基于片段生成 + 引用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政策常更新，只需重建索引；答案天生带引用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超长上下文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一次塞入全文，靠模型阅读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成本高、溯源弱、长文易失焦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让模型“学会”固定领域知识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政策一更新就要重训；答案无法溯源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纯关键词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问句字面词匹配文档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“外地户口能交社保吗”与政策条文有语义鸿沟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提示词/一次调用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直接用模型现有能力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政策问答要输出“一段话 + 来源”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572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判读口诀：常更新 + 要溯源 → RAG；固定领域 + 有数据算力 → 才微调；精确词 → 关键词；单纯分类 → 一次调用。</a:t>
            </a:r>
            <a:endParaRPr lang="en-US" sz="12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9.2–9.3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9.2–9.3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核心链路与文档解析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离线建库一次 + 在线问答多次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全章纪律：检索不到不能编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解析：把“纸”变成可检索的文字</a:t>
            </a:r>
            <a:endParaRPr lang="en-US" sz="15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一条完整 RAG 链路：离线建库 + 在线问答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离线建库（做一次）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783080" cy="56692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5720" cy="56692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解析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50008" y="1563624"/>
            <a:ext cx="164592" cy="274320"/>
          </a:xfrm>
          <a:prstGeom prst="rightArrow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783080" cy="56692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45720" cy="56692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14173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分块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5968" y="1563624"/>
            <a:ext cx="164592" cy="274320"/>
          </a:xfrm>
          <a:prstGeom prst="rightArrow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1783080" cy="56692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1417320"/>
            <a:ext cx="45720" cy="56692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80560" y="14173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向量化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1928" y="1563624"/>
            <a:ext cx="164592" cy="274320"/>
          </a:xfrm>
          <a:prstGeom prst="rightArrow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1417320"/>
            <a:ext cx="1783080" cy="56692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46520" y="1417320"/>
            <a:ext cx="45720" cy="56692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14173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存向量库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在线问答（做多次）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651760"/>
            <a:ext cx="2468880" cy="56692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45720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651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问题向量化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35808" y="2798064"/>
            <a:ext cx="164592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651760"/>
            <a:ext cx="2468880" cy="56692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2651760"/>
            <a:ext cx="45720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0" y="2651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检索 top-K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87568" y="2798064"/>
            <a:ext cx="164592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52160" y="2651760"/>
            <a:ext cx="2468880" cy="56692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52160" y="2651760"/>
            <a:ext cx="45720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52160" y="26517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生成 + 标注来源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1984248"/>
            <a:ext cx="0" cy="667512"/>
          </a:xfrm>
          <a:prstGeom prst="line">
            <a:avLst/>
          </a:prstGeom>
          <a:noFill/>
          <a:ln w="19050">
            <a:solidFill>
              <a:srgbClr val="A889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2084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底库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政策更新时，只需对更新部分重跑离线建库（重建索引），模型不用重新训练。</a:t>
            </a:r>
            <a:endParaRPr lang="en-US" sz="115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链路每一步：输入 · 输出 · 常见坑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657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解析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把“纸”变成文字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扫描件不出字、表格被切乱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分块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决定“一个答案对应哪几段”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块太小截断信息、太大检索不准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向量化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语义相近的文字在数字空间靠近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中文用错 embedding，语义鸿沟大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存库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存向量 + 原文 + 来源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只存向量丢原文，来源就没了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问题向量化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把问题放到与片段同维空间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分词/语义与库不一致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检索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找出支撑答案的依据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太小漏、K 太大噪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生成 + 引用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限定只用片段应答、标来源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越出片段自由发挥 = 幻觉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52628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5262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全章纪律：检索不到不能编——片段不足以支撑答案时，明确说“未检索到、无法回答”，而不是凭空编一段。</a:t>
            </a:r>
            <a:endParaRPr lang="en-US" sz="12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解析器选型（截至 2026-08，以官方为准）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何时用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Docling（IBM）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开源文档转换库，含布局/表格/阅读顺序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混合格式、含表格的常用首选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LlamaParse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托管解析云服务，索引即用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不想自建、接受托管时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Unstructured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+ 托管，按元素切分，LangChain 生态深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已在 LangChain 生态、要代码级控制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PyMuPDF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轻量底层 PDF 文字提取，速度快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纯文本 PDF、兜底预处理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25196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2519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中文扫描件：必须先 OCR（Docling 内置多套引擎），中文效果取决于引擎对中文支持——落地前务必用自己那批扫描件实测。</a:t>
            </a:r>
            <a:endParaRPr lang="en-US" sz="12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9.4–9.5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9.4–9.5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分块与向量化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分块：自包含 · 不过大不过小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参数起点：256–1024 token + 10–20% 重叠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Embedding：语义相近的文字距离更近</a:t>
            </a:r>
            <a:endParaRPr lang="en-US" sz="15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分块：太小 vs 太大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18872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1887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08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块太小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关键信息被切断——检索到了，但片段不含完整答案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18872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54864" cy="118872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08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块太大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8105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一段里塞太多无关内容——检索不精准，模型易跑偏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参数起点：chunk_size 256–1024 token（中文常用 512–1024）；overlap 10%–20%——经验起点，非万能最优。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931920" cy="914400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864" cy="9144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检索命中但回答不完整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730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块太小 → 增大 chunk_size / overlap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291840"/>
            <a:ext cx="3931920" cy="914400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检索不精准、常带无关内容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730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块太大 → 缩小 chunk_size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拿到实测结果后再微调；最优值因语料与检索器而异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进阶分块（从简单到进阶按需升级）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072159"/>
              </p:ext>
            </p:extLst>
          </p:nvPr>
        </p:nvGraphicFramePr>
        <p:xfrm>
          <a:off x="351838" y="1280160"/>
          <a:ext cx="8440324" cy="2011680"/>
        </p:xfrm>
        <a:graphic>
          <a:graphicData uri="http://schemas.openxmlformats.org/drawingml/2006/table">
            <a:tbl>
              <a:tblPr/>
              <a:tblGrid>
                <a:gridCol w="1216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1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解决什么问题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关键做法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语义分块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按主题/段落语义边界切，减少“一句话被拦腰斩断”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依标题、主题、段落划分，非固定 token 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父子文档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小片嵌入提高召回精度，命中后取父级大块供模型读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小片用于检索，命中后回取其所属大块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上下文检索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chunk 脱离文档语境导致召回失败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嵌入前用小模型为每块补写“位置/主题”上下文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37016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737016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73701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固定长度不够用时才升级——先确认问题确实存在，再决定是否加。</a:t>
            </a:r>
            <a:endParaRPr lang="en-US" sz="12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+ 中文选型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45720" cy="73152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把一段文字映射成高维数字向量，语义相近的文字距离更近——“外地户口能交社保吗”与“灵活就业人员参保条件”字面不重合，但向量距离很近，能被适配的模型抓出来。</a:t>
            </a:r>
            <a:endParaRPr lang="en-US" sz="1150" dirty="0"/>
          </a:p>
        </p:txBody>
      </p:sp>
      <p:graphicFrame>
        <p:nvGraphicFramePr>
          <p:cNvPr id="1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046720" cy="2011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BGE-M3（BAAI）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Qwen3-Embedding（阿里）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向量维度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 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0.6B→1024 · 4B→2560 · 8B→4096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稠密+稀疏+多向量三重表示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Matryoshka 维度压缩；4B/8B 稠密+稀疏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 可本地自部署（不出域）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开源权重，本地或托管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7200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457200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4572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落地判读：要“数据不出域”→ 选可本地部署的中文模型（BGE-M3）；要语义靠近 → 强语义 embedding；精确词命中 → 交给混合检索的关键词通道。</a:t>
            </a:r>
            <a:endParaRPr lang="en-US" sz="12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9.6–9.7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9.6–9.7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向量库与检索增强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向量库存三样：向量 · 原文 · 来源元数据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检索增强三段递进：混合 → 重排 → HyDE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中文硬细节：必须显式配置 jieba</a:t>
            </a:r>
            <a:endParaRPr lang="en-US" sz="15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向量库要存三样东西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06040" cy="118872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用于相似度检索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606040" cy="118872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344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原文片段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47288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命中后给模型读、做依据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06040" cy="118872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344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来源元数据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36208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文号 · 条款号 · 页号——溯源全靠它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2606040" cy="96012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260604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 · PoC 首选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3108960"/>
            <a:ext cx="2606040" cy="96012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37560" y="3108960"/>
            <a:ext cx="260604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37560" y="3547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 · 生产大规模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108960"/>
            <a:ext cx="2606040" cy="96012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3108960"/>
            <a:ext cx="260604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pgvector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26480" y="3547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数据已在 Postgres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4343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只存向量、丢原文，溯源就断了——向量解决“找得准”，原文与来源解决“答得可追溯”，缺一不可。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PoC/</a:t>
            </a:r>
            <a:r>
              <a:rPr lang="en-US" sz="1000" dirty="0" err="1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原型阶段用</a:t>
            </a: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Chroma 开箱即用；规模、并发、混合检索上量后再迁 Milvus 或 pgvector——不要一上来就搭分布式。</a:t>
            </a:r>
            <a:endParaRPr lang="en-US" sz="10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检索增强三段递进（不是默认全上）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325880"/>
            <a:ext cx="6949440" cy="658368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325880"/>
            <a:ext cx="64008" cy="658368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13258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基础向量检索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40480" y="13258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 语义相似基线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984248"/>
            <a:ext cx="0" cy="11887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2103120"/>
            <a:ext cx="6949440" cy="65836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2103120"/>
            <a:ext cx="64008" cy="65836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21031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40480" y="21031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+ 关键词（BM25·jieba）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治“召回漏”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761488"/>
            <a:ext cx="0" cy="11887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" y="2880360"/>
            <a:ext cx="6949440" cy="65836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2880360"/>
            <a:ext cx="64008" cy="65836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25880" y="28803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 rerank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40480" y="28803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cross-encoder 精排 top-K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治“排序差”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538728"/>
            <a:ext cx="0" cy="118872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97280" y="3657600"/>
            <a:ext cx="6949440" cy="658368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7280" y="3657600"/>
            <a:ext cx="64008" cy="658368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25880" y="36576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HyDE / 改写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840480" y="36576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先造假设答案再检索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治“表达不对齐”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663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从最简单开始：先基础 top-K 验证；漏精确词 → 加混合；首屏精度不够 → 加重排；查询表达对不上 → 才 HyDE/改写。每一层先确认问题确实存在。</a:t>
            </a:r>
            <a:endParaRPr lang="en-US" sz="12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中文混合检索的硬细节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中文混合检索必须显式配置 jieba 分词——这是“能不能跑通”的硬细节。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是“按词统计词频”的关键词检索：对中文若不先加载 jieba 分词器（建立索引前用 jieba.analyse 分词），一整句话会被当成一个“词”，导致精确词命中失效、混合检索退化为近似纯向量。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落地：建立关键词索引之前显式配置 jieba，并用带编号 / 专名的测试数据抽检命中效果。</a:t>
            </a:r>
            <a:endParaRPr lang="en-US" sz="12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9.8–9.10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9.8–9.10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· 评估 · 最小预实验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+ 引用：检索不到不能编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双指标验收 + 评估落地三件事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20–30 分钟最小 RAG 预实验</a:t>
            </a:r>
            <a:endParaRPr lang="en-US" sz="15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生成阶段提示词组装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12344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356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只用所给片段作答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不得凭记忆补充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2112" y="1783080"/>
            <a:ext cx="155448" cy="256032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06040" cy="12344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4356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检索片段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47288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按相关性排序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3–8 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71032" y="1783080"/>
            <a:ext cx="155448" cy="256032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06040" cy="12344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4356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36208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本次提问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0" y="2788920"/>
            <a:ext cx="5120640" cy="54864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1168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模型输出：答案 + 引用（文号 · 条款）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237744" cy="237744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只给检索片段，不给全文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20440" y="3520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塞整本手册 = 退回超长上下文，成本高、易失焦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151376"/>
            <a:ext cx="237744" cy="237744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片段排序 + 控制数量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20440" y="4023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 即片段数，政务建议 3–8 段；去重后按相关性从高到低排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645152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4645152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46451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系统提示没写死“只用片段作答、不得凭记忆补充”，模型会回归“凭记忆编”——引用就不可信了。</a:t>
            </a:r>
            <a:endParaRPr lang="en-US" sz="12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引用格式 + 检索不到不能编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" cy="77724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6187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引用规范：“依据《XX 办法》（文号）第 X 条”；多来源并列“依据《A》第 X 条、《B》第 Y 条”；无文号时降级为“文件标题 + 段落位置”。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531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检索不到不能编（三条判据）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8346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83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6103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检索为空 / 片段太少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0" y="26103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回答“未检索到、无法回答”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686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2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1955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命中但不相关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31955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说明“未找到与问题直接相关的条款”，不硬答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5389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853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7807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片段互相冲突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023360" y="37807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如实标注“不同条款存在差异”，交人工确认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20824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420824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42082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"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答案可追溯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"</a:t>
            </a:r>
            <a:r>
              <a:rPr lang="en-US" sz="1200" dirty="0" err="1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落此处：先有“片段</a:t>
            </a: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原文 + 来源”，再有“只用片段作答 + 强制引用 + 检索不到不编”——第 10 章把它量化为双指标。</a:t>
            </a:r>
            <a:endParaRPr lang="en-US" sz="12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本书的双指标验收口径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37160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答案准确率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每条结论是否正确、切题、没有幻觉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37160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54864" cy="13716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来源可追溯率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每条关键论断是否带了对的出处（文号+条款），且出处与内容能对上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06464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906464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9064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验收只看“答案对不对”、不看“引用准不准”，是政务 RAG 最常见的失效点——双指标都必须过线，“答对但引错”同样不验收。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1601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建索引三问（教材提炼）：①这份文档（含扫描/表格/混合格式）解析出来可读、结构未乱吗？②chunk 自包含、粒度合适吗？③向量库 embedding 维度与模型一致吗？top-K / 过滤 / 来源元数据配好了吗？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47532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247532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24753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RAGAS（开源评估框架）：每个指标只回答自己的问题——检索质量 / 回答相关性 / 上下文忠实度 / 引用质量，不能互相替代。</a:t>
            </a:r>
            <a:endParaRPr lang="en-US" sz="12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评估怎么落地：三件事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0058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检索与生成分开评估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08960" y="1325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检索侧看命中率（调分块/embedding/混合检索）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生成侧看忠实度（调提示词/模型）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引用侧看出处对不对——排错口诀：先问找没找对，再问答没答对，最后问引没引对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046720" cy="10058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" cy="10058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固定评估配置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08960" y="2468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evaluator prompt、模型、参数必须固定（温度 0）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打分只作初筛，抽检 ≥20% 人工复核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冲突时以人工为准并记录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" cy="100584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库外问题（外部给定）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08960" y="3611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知识库中不存在答案的问题，由讲师/脚本外部给定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验收口径：模型应回答“未检索到、无法回答”，不得编造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681728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6817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答案错了不等于生成错，更可能是检索没找对——先定位，再修。</a:t>
            </a:r>
            <a:endParaRPr lang="en-US" sz="12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RAG 预实验（5 步）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0509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05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3194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解析与分块：自拟 3–5 段政策式片段，按条款切成 4–8 个 chunk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1832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18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4517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向量化：任选一个 embedding（本地 BGE-M3 或托管 API）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53156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3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584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检索：2 个库内问题各取 top-1/2，1 个库外问题看结果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447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24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71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组装与生成：按 9.8.1 组装，模型只用片段作答 + 标文号条款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5802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95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848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自评：先看检索命中没，再看生成忠不忠实，最后看引用对不对；库外必须拒答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06664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506664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5066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验收（你自己的 DoD）：库内 2 题都命中、答案有正确出处；库外 1 题拒答不编；能说清“答案错了是检索、生成还是引用的问题”。</a:t>
            </a:r>
            <a:endParaRPr lang="en-US" sz="12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方法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思想：检索外部资料补足模型语料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链路：解析→分块→向量化→检索→生成+引用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选型：RAG / 超长上下文 / 微调 / 关键词 / 提示词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参数判读：分块 512–1024 / top-K / 增强逐段加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双指标：答案准确率 + 来源可追溯率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评估：分开评估 + 固定配置 + 库外问题拒答</a:t>
            </a:r>
            <a:endParaRPr lang="en-US" sz="13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94960" y="91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7000" dirty="0"/>
          </a:p>
        </p:txBody>
      </p:sp>
      <p:sp>
        <p:nvSpPr>
          <p:cNvPr id="5" name="Shape 3"/>
          <p:cNvSpPr/>
          <p:nvPr/>
        </p:nvSpPr>
        <p:spPr>
          <a:xfrm rot="2700000">
            <a:off x="7315200" y="-1097280"/>
            <a:ext cx="3108960" cy="3108960"/>
          </a:xfrm>
          <a:prstGeom prst="rect">
            <a:avLst/>
          </a:prstGeom>
          <a:solidFill>
            <a:srgbClr val="FFFFFF">
              <a:alpha val="7000"/>
            </a:srgbClr>
          </a:solidFill>
          <a:ln w="1651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2700000">
            <a:off x="7818120" y="-594360"/>
            <a:ext cx="2103120" cy="2103120"/>
          </a:xfrm>
          <a:prstGeom prst="rect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2700000">
            <a:off x="-1188720" y="3474720"/>
            <a:ext cx="2377440" cy="2377440"/>
          </a:xfrm>
          <a:prstGeom prst="rect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2700000">
            <a:off x="6675120" y="457200"/>
            <a:ext cx="292608" cy="292608"/>
          </a:xfrm>
          <a:prstGeom prst="rect">
            <a:avLst/>
          </a:prstGeom>
          <a:solidFill>
            <a:srgbClr val="C5CDE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2700000">
            <a:off x="6263640" y="256032"/>
            <a:ext cx="182880" cy="182880"/>
          </a:xfrm>
          <a:prstGeom prst="rect">
            <a:avLst/>
          </a:prstGeom>
          <a:solidFill>
            <a:srgbClr val="A8895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2700000">
            <a:off x="594360" y="4343400"/>
            <a:ext cx="365760" cy="365760"/>
          </a:xfrm>
          <a:prstGeom prst="rect">
            <a:avLst/>
          </a:prstGeom>
          <a:solidFill>
            <a:srgbClr val="C5CDE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325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 · 实操三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8288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政策法规 RAG 问答系统（场景 B）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143000" y="2834640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Delta · Prototype 阶段 · AI 施工（检索 + 生成）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solidFill>
            <a:srgbClr val="5C6BC0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写提示词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建索引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19856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跑八环节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26864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双指标验收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25312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25312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33872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复盘交接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972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1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实操目标与产出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复用实操二工作流：启动提示词 → gstack 八环节 → checkpoint 把关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6537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65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379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 RAG：解析（含 docx/pdf）→ 分块 → 向量化 → 检索 → 生成 + 引用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414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把“答案可追溯”落地为双指标验收（准确率 + 可追溯率）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7238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449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拍板 RAG 特有决策点：切块策略 · top-K · 检索不到兜底 · 建索引抽查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216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730216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73021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产出：政务政策问答系统（带来源引用的回答）+ Streamlit 对话界面 + 完整 gstack 交付件。坡度递增：分类器（一把梭）→ RAG（检索+生成）。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33136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233136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23313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最小工具契约：检索能力封装为 search_policy（输入问题 → 输出带来源元数据的证据片段），守住“无证据不回答”。</a:t>
            </a:r>
            <a:endParaRPr lang="en-US" sz="12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这一轮在 Ch9 坐标系里的位置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96596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层 · RAG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先检索政策片段，再基于片段作答并标注来源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不用微调（常更新·需溯源）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不用纯关键词（语义鸿沟）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96596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20299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答案准确率 + 来源可追溯率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 AI 准入门槛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检索不到不能编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96596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从最简单开始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20299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基础向量检索（Chroma + top-K）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不堆叠混合检索 / 重排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评估发现持续差才逐段升级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9319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数据不出域：教学用课堂模拟数据（可走公网 API）；换真实客户数据 → 切本地向量库与本地 embedding（第 13 章路径）。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两条路：API 优先（如硅基流动 bge-m3，免运维验证快）；API 不可用再降级本地（下载 2GB+ 模型）。</a:t>
            </a:r>
            <a:endParaRPr lang="en-US" sz="105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任务书：场景 B 政务政策知识问答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45720" cy="73152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市民问政策 → 系统直接给答案，还得告诉他是哪份文件、哪条规定的——免得坐席背锅。技术方案（已定）：RAG，不是微调、不是纯关键词。</a:t>
            </a:r>
            <a:endParaRPr lang="en-US" sz="1200" dirty="0"/>
          </a:p>
        </p:txBody>
      </p:sp>
      <p:graphicFrame>
        <p:nvGraphicFramePr>
          <p:cNvPr id="2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804672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社保参保政策.md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章 27 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医保报销政策.md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章 28 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保障性住房政策.md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章 27 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户籍迁移政策.docx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章 23 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就业创业补贴政策.pdf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章 33 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7200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457200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4572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docx/pdf 要先做格式解析再分块向量化；施工时让 Agent 从素材目录读取，不让 Agent 自己编政策内容。</a:t>
            </a:r>
            <a:endParaRPr lang="en-US" sz="12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实操三 · DoD 与小结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复用施工工作流：启动提示词 → gstack → checkpoint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 RAG：解析 → 分块 → 向量化 → 检索 → 生成+引用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🔺 答案可追溯落地为双指标验收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决策点：按条切块 / top-K / 拒答兜底 / 抽查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检索封装 search_policy，供后续复用</a:t>
            </a:r>
            <a:endParaRPr lang="en-US" sz="13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方法 · 自动化边界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智能体定义 · 六种模式 · 三路分流 · 工具工程化 · FP/FN · 人机回环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定义：目标驱动 · 调工具 · 自主决策（决策循环）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 / Agentic Workflow / Agent 三分；六种模式二维判断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2257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三路分流；假阳性 vs 假阴性权衡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9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+ MCP；工具工程化五件套；三层护栏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56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自动化边界三问——FDE 的核心业务决策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银行反洗钱场景看懂“工作流 + 智能体 + 人机回环”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红线本处落地：敏感件零漏判——“给定验证集召回率 100%”，宁多升级、不可漏。第 12 章实操四当场做出来。</a:t>
            </a:r>
            <a:endParaRPr lang="en-US" sz="12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11.1–11.2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11.1–11.2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智能体是什么与何时用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 · 调工具 · 自主决策（决策循环）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三档能力：普通 LLM / RAG / Agent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从最简单开始——智能体是最后一级</a:t>
            </a:r>
            <a:endParaRPr lang="en-US" sz="15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智能体（Agent）的定义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solidFill>
            <a:srgbClr val="E8ECF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4008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 + 能调工具 / 与环境交互 + 能根据中间结果自主决策——循环直至任务完成。</a:t>
            </a:r>
            <a:endParaRPr lang="en-US" sz="1200" dirty="0"/>
          </a:p>
        </p:txBody>
      </p:sp>
      <p:graphicFrame>
        <p:nvGraphicFramePr>
          <p:cNvPr id="2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804672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 LLM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只会说话——你问它答它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嘴 + 图书馆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查资料再说话——检索增强回答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嘴 + 手 + 大脑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查资料、调工具、做决策——根据中间结果决定下一步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中文名：业界普遍称“智能体”（agent），也有“智能代理 / AI 代理”——本书统一用“智能体”。</a:t>
            </a:r>
            <a:endParaRPr lang="en-US" sz="11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决策循环：智能体的本质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141732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996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拿到输入（工单 / 交易 / 任务）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96312" y="192024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920240" cy="141732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19202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4996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07208" y="19202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判断属于哪类、下一步做什么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152" y="192024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1920240" cy="141732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4996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56048" y="19202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调工具 · 查数据 · 生成处置意见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93992" y="192024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1371600"/>
            <a:ext cx="1920240" cy="141732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1371600"/>
            <a:ext cx="19202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4996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再看结果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04888" y="19202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决定交付 / 继续处理 / 升级人工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工单分级为例：判断“跨部门诉求”后不会停下——继续查部门职责库 → 生成深度处理意见 → 决定要不要转人工。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9319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口径：智能体比单次调用更贵、更慢、失败点更多——复杂度的代价是官方定性，不用具体倍数。</a:t>
            </a:r>
            <a:endParaRPr lang="en-US" sz="12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对照“从最简单开始”选层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514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关键判断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何时用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 → 类别，贴完标签结束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只需归类，无需后续动作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先检索再生成，答案可溯源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需基于文档精确回答，无需多步动作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 / Agentic Workflow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固定可枚举步骤（部分节点 LLM 决策）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步骤确定、路径可枚举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输出之后还要继续“做事”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需自主决策 + 调工具 + 多步流转且路径不可预写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8056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805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核心纪律：这可能意味着根本不要构建智能体系统——从最简单的方案开始，仅在必要时增加复杂度。</a:t>
            </a:r>
            <a:endParaRPr lang="en-US" sz="12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工作流、编排工具与六种设计模式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工作流：下一步写死；智能体：下一步自主决定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六种模式 + 二维判断（预定义/动态 × 单轮/闭环）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三分口径：Workflow / Agentic Workflow / Agent</a:t>
            </a:r>
            <a:endParaRPr lang="en-US" sz="15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工作流（Workflow）+ 编排工具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45720" cy="64008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工作流：把业务处理步骤固定下来、按预先写好的顺序执行——可控、可预测、失败点可定位。与智能体的区别一句话：工作流的“下一步”是写死的，智能体的“下一步”是模型自己决定的。</a:t>
            </a:r>
            <a:endParaRPr lang="en-US" sz="1150" dirty="0"/>
          </a:p>
        </p:txBody>
      </p:sp>
      <p:graphicFrame>
        <p:nvGraphicFramePr>
          <p:cNvPr id="2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8046720" cy="2011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开源低代码 / 可视化编排平台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业务与工程协同、快速搭“工作流 + 局部智能体”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Coze（扣子）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低代码智能体平台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快速搭建、工具市场丰富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LangGraph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代码级编排框架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复杂、可编程、要深度定制的生产逻辑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8912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438912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43891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判读：要几天内上线、业务参与配置 → 平台（Dify/Coze）；逻辑复杂、要精细控制 → 代码框架（LangGraph）；两者常混用（平台搭骨架 + 框架做复杂节点）。</a:t>
            </a:r>
            <a:endParaRPr lang="en-US" sz="12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六种常见设计模式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656810"/>
              </p:ext>
            </p:extLst>
          </p:nvPr>
        </p:nvGraphicFramePr>
        <p:xfrm>
          <a:off x="548640" y="976122"/>
          <a:ext cx="8046720" cy="3520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Prompt Chaining 提示链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固定步骤串行，前步输出喂后步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Routing 路由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分类输入并导向专门分支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Parallelization 并行化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并行执行独立子任务后汇总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Orchestrator-Workers 编排者-工人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中央编排者动态拆解任务、分派给工人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Evaluator-Optimizer 评估-优化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生成器产出 → 评估器评判 → 不达标回炉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自主智能体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模型自主规划、调工具、观察、循环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39" y="4572000"/>
            <a:ext cx="77814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生产里绝大多数“智能体系统”是“工作流 / Agentic Workflow + 局部智能体”的混合，不是整套自主智能体。</a:t>
            </a:r>
            <a:endParaRPr lang="en-US" sz="12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 / Agentic Workflow / Agent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工作流（Workflow）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步骤与判断都预先写死，LLM 只做固定步骤内单点应答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抽字段 → 校验 → 归档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智能体工作流（Agentic Workflow）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路径预编排（可枚举），若干节点由 LLM 决策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三路路由：LLM 判档 → 固定分支动作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智能体（Agent）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模型自主规划、调工具、观察、循环，路径不可穷举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开放探索、多工具动态编排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02152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502152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5021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为什么“路由”叫 Agentic Workflow 不叫 Agent：分支是预先枚举的，模型只在“判档”节点做决策，没有自主规划循环。</a:t>
            </a:r>
            <a:endParaRPr lang="en-US" sz="12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六种模式的二维判断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15103"/>
              </p:ext>
            </p:extLst>
          </p:nvPr>
        </p:nvGraphicFramePr>
        <p:xfrm>
          <a:off x="548640" y="1371600"/>
          <a:ext cx="8046720" cy="1508760"/>
        </p:xfrm>
        <a:graphic>
          <a:graphicData uri="http://schemas.openxmlformats.org/drawingml/2006/table">
            <a:tbl>
              <a:tblPr/>
              <a:tblGrid>
                <a:gridCol w="109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9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7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路径：预定义（可枚举）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路径：动态（不可预写）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迭代：单轮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Prompt Chaining · Routing · Parallelization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Orchestrator-Workers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迭代：闭环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Evaluator-Optimizer（固定“生成→评估→回炉”环）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自主智能体（观察-思考-行动循环）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读法：先问“路径能不能预写死”——能 → 工作流类，不能 → 智能体类；再问“要不要闭环迭代”。工单路由是“预定义 × 单轮”，所以用 Routing 就够。</a:t>
            </a:r>
            <a:endParaRPr lang="en-US" sz="12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路由工作流 vs 受控 Agentic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017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路由工作流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受控 Agentic Loop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预先写定：判档 → 条件边 → 固定分支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按目标 + 当前状态动态选择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固定调用 check_department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从多个工具中按需选择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观察后重规划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无（一次判断到位）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有：工具结果可触发换工具 / 重新判断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信息不足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固定转人工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主动追问后再继续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人工介入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敏感件固定转人工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request_human_review（interrupt + resume）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判断方法就是二维判断：路径可枚举 → 路由工作流（实操四）；路径不可枚举或需反复观察 → 受控 Agent（实操四B Lab4B）。</a:t>
            </a:r>
            <a:endParaRPr lang="en-US" sz="12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11.4–11.5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11.4–11.5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三路分流与工程底座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三路分流：low→quick / high→deep / uncertain→escalate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LangGraph：把决策循环画成图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MCP：标准化工具接入协议</a:t>
            </a:r>
            <a:endParaRPr lang="en-US" sz="15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三路分流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1234440"/>
            <a:ext cx="2926080" cy="548640"/>
          </a:xfrm>
          <a:prstGeom prst="rect">
            <a:avLst/>
          </a:prstGeom>
          <a:solidFill>
            <a:srgbClr val="3949A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10896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 / 请求进入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2148840"/>
            <a:ext cx="2926080" cy="5486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2148840"/>
            <a:ext cx="45720" cy="5486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判断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783080"/>
            <a:ext cx="0" cy="36576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697480"/>
            <a:ext cx="0" cy="3200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256032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 · 低风险/简单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quick 快路径（自动处理）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697480"/>
            <a:ext cx="0" cy="3200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3383280"/>
            <a:ext cx="2560320" cy="10972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0" y="3383280"/>
            <a:ext cx="256032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 · 高价值/复杂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deep 深度路径（强模型/多步流程）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697480"/>
            <a:ext cx="0" cy="3200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3383280"/>
            <a:ext cx="2560320" cy="109728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3383280"/>
            <a:ext cx="256032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uncertain · 置信度不足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escalate 升级（转人工 / 降级只读）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主体流程 = 预编排路由工作流（Agentic Workflow）：输入 → LLM 判档 → 条件边 → 固定分支动作。</a:t>
            </a:r>
            <a:endParaRPr lang="en-US" sz="105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工单分级：三路分流的政务版本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咨询类（简单）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 → quick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自动答复——模式固定、风险低，该自动化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跨部门类（复杂）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 → deep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深度处理 + 调工具——AI 查部门职责库、生成意见，人可介入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敏感类（投诉/举报/重大）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uncertain → escalate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必须转人工——政务安全底线；验收口径：给定验证集召回率 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2976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敏感件零漏判：给定验证集召回率 = 100%（一条不漏）是可验收的；生产目标为零漏判——靠“漏判上报 + 复盘回灌”逼近，不是一句承诺。</a:t>
            </a:r>
            <a:endParaRPr lang="en-US" sz="12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LangGraph：把“决策循环”画成图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0175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 / Node / Conditional Edge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共享状态驱动；Node 处理单元；条件边按条件分支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Checkpointing（持久化）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每次节点后写检查点，按 thread_id 隔离会话；支持断点恢复 / 回放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interrupt()（人机回环）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暂停 → 交给人 → 收集输入后恢复；含 interrupt 的节点恢复时从头重跑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幂等性 / 副作用防护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框架不自动保证幂等——副作用操作放独立节点 + 幂等键，恢复路径必须实测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节点级 timeout / retry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为每个节点设超时与重试，避免在某步卡死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6177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反例：中断恢复后重复发消息——按“生成回复 → 发送 → interrupt()”编排，恢复时节点重跑、消息可能重复发送；正确做法是把“发送”放到 interrupt() 之后或加幂等键。</a:t>
            </a:r>
            <a:endParaRPr lang="en-US" sz="12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MCP：标准化工具接入协议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377440" cy="73152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" cy="7315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（决策循环）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463040"/>
            <a:ext cx="457200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66160" y="1234440"/>
            <a:ext cx="2377440" cy="73152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66160" y="1234440"/>
            <a:ext cx="54864" cy="7315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234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· MCP Client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（opencode / 自建）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600200"/>
            <a:ext cx="457200" cy="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234440"/>
            <a:ext cx="1143000" cy="731520"/>
          </a:xfrm>
          <a:prstGeom prst="rect">
            <a:avLst/>
          </a:prstGeom>
          <a:solidFill>
            <a:srgbClr val="E4EFE4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234440"/>
            <a:ext cx="114300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2984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查部门职责库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457200" cy="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89520" y="1234440"/>
            <a:ext cx="1143000" cy="731520"/>
          </a:xfrm>
          <a:prstGeom prst="rect">
            <a:avLst/>
          </a:prstGeom>
          <a:solidFill>
            <a:srgbClr val="E4EFE4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89520" y="1234440"/>
            <a:ext cx="114300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12984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政策检索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 USB-C：MCP 统一了智能体与工具之间的接口——工具怎么暴露、怎么调用，一套协议搞定。三个原语：Tools（可执行函数）· Resources（可读数据）· Prompts（提示模板）。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3832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何时上 MCP：多工具 / 多 agent 共享、接入方式杂、团队共享工具库（能力回注落点）；单个工具单次接入 → 直接函数调用即可，从最简单开始。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工具层与决策层解耦：LangGraph 管“决策图”，MCP 管“工具接入”——各司其职。</a:t>
            </a:r>
            <a:endParaRPr lang="en-US" sz="11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11.6–11.7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11.6–11.7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工具工程化与 FP/FN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工具五件套：超时 / 重试 / 幂等 / 审计 / 降级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国产模型注意点：strict · thinking 回传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宁可多升级、不可漏（召回率 100%）</a:t>
            </a:r>
            <a:endParaRPr lang="en-US" sz="15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工具定义质量 + 国产模型注意点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描述具体，包含示例用法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85623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写清何时用、何时不用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0487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参数命名直观（用 keyword 而非 text）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95351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边界情况写清楚（查不到返回空列表）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传入必要上下文（传工单全文，非单个关键词）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把工具描述当成“写给一个初级工程师看的接口文档”——描述越清楚，智能体调得越准。</a:t>
            </a:r>
            <a:endParaRPr lang="en-US" sz="12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工具调用工程化：五件套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0175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超时 timeout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每个调用设超时上限（10–30s）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调外部 API 卡死，整个智能体挂起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重试 retry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有限次数（如 2 次）+ 退避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无限重试把故障放大成雪崩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幂等 idempotency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有副作用的工具带幂等键 / 事务 / 补偿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断点恢复后重复提交 / 扣款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审计 audit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入参 / 出参 / 耗时 / 谁触发，全留日志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出事后无法复盘“谁让它干的”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降级 degradation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失败 → 重试 → 降级（只读/简化）→ 转人工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工具失败时装成功、给用户错误结果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572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工具失败时“假装成功”是智能体工程最常见的翻车——兜底顺序：失败 → 有限重试 → 降级 → 转人工，永远不要越过“转人工”这道线。</a:t>
            </a:r>
            <a:endParaRPr lang="en-US" sz="12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两个出错方向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5544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55448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假阳性 FP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不该打断时打断：正常交易被误判可疑、频繁转人工——信任流失 · 效率下降 · “狼来了”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55448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54864" cy="155448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408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假阴性 FN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该拦时没拦：可疑交易漏报、越权动作放行——真实事故 · 数据损失 · 合规风险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实测证据：审批门控复盘“11 个拦截里 9 个误报”；人在环监督测试中，人类审核者放行了约 1/3 的危险请求——靠直觉定自动化边界不可靠。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9319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 / 金融敏感件：假阴性代价 ≫ 假阳性——铁律“宁可多升级，不可漏”；验收口径 = 给定验证集召回率 100%，生产目标为零漏判。</a:t>
            </a:r>
            <a:endParaRPr lang="en-US" sz="12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11.8–11.10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11.8–11.10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 · 边界 · 企业案例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三层护栏 + 人机回环（HITL）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自动化边界三问——业务决策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银行反洗钱：工作流 + 智能体 + 人机回环</a:t>
            </a:r>
            <a:endParaRPr lang="en-US" sz="15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三层护栏框架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典型做法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输入过滤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防注入 · 去敏 · 输入校验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prompt injection 检测 · PII 脱敏 · 限流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行为约束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最小权限 · 工具白名单 · 审批门控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只给工作所需最少工具；越权自动拒绝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输出审查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校验输出 · 发布前复核 · 审计日志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关键输出风险校验 · 人工复核点 · 全链路可追溯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02336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0233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真实事故（截至 2026-08）：AI 编程代理 9 秒删库、约 30 小时无法恢复；Operator 代理执行未授权交易；人类审核者放行约 1/3 危险请求——权限最小化 + 审批门控 + 人机回环是基石。</a:t>
            </a:r>
            <a:endParaRPr lang="en-US" sz="12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人机回环（HITL）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785482"/>
              </p:ext>
            </p:extLst>
          </p:nvPr>
        </p:nvGraphicFramePr>
        <p:xfrm>
          <a:off x="548640" y="1234440"/>
          <a:ext cx="8046720" cy="2011680"/>
        </p:xfrm>
        <a:graphic>
          <a:graphicData uri="http://schemas.openxmlformats.org/drawingml/2006/table">
            <a:tbl>
              <a:tblPr/>
              <a:tblGrid>
                <a:gridCol w="2308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0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人在环内（in-the-loop）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关键路径必须暂停，等人确认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政务 / 金融敏感路径：发钱、删数据、对外上报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人在环上（on-the-loop）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智能体自主跑，人在监督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一般任务：仪表盘 · 抽检 · 异常告警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人在环外（out-of-the-loop）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无人工介入，事后审计 + 回滚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低风险、可逆的重复任务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三个工程要点：①暂停点选在影响真金白银 / 安全 / 合规 / 对外动作的路径，其他路径不要处处暂停；②确认界面给人“上下文 + 候选动作 + 风险提示”，能判断而非盲批；③人工不响应 → 超时默认拒绝、升级，绝不“超时自动通过”。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52628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52628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5262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不是免死金牌——关键路径要双人复核或抽检，并记录“谁在什么时间批准了什么”（审计）。</a:t>
            </a:r>
            <a:endParaRPr lang="en-US" sz="12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“该不该自动化某一步”三问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9601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89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模式是否固定？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31920" y="1389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固定、重复、低风险 → 可自动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每次都不一样、需判断 → 留人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54864" cy="9601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260604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4414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出错代价多大？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0" y="24414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影响真金白银 / 安全 / 合规 / 对外承诺 → 留人工确认环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代价可逆可回滚 → 可自动 + 事后审计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54864" cy="9601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365760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4930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能否设计兜底？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31920" y="34930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拿不准就异常返回、能兜底到人工 → 不怕自动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无法兜底（一步错全盘错）→ 保守留人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98848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498848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4988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用法：任何一问指向“留人”就设暂停点；三问全指向“可自动”也仍要留审计——“可自动”不等于“无人看”。边界要写进 SPEC（自动化范围 / 转人工触发 / 兜底动作 / 人工超时策略）。</a:t>
            </a:r>
            <a:endParaRPr lang="en-US" sz="12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银行反洗钱监测智能体：混合形态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4946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数据流转：交易流水 → 规则/模型初筛（确定性工作流）→ 可疑监测智能体分级处置 → 低风险自动通过 / 可疑深挖证据链（调工具：关联图谱·历史交易·规则库）/ 高风险转人工复核 → 专员拍板：上报 / 暂缓 / 排除。</a:t>
            </a:r>
            <a:endParaRPr lang="en-US" sz="1150" dirty="0"/>
          </a:p>
        </p:txBody>
      </p:sp>
      <p:graphicFrame>
        <p:nvGraphicFramePr>
          <p:cNvPr id="2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2252"/>
              </p:ext>
            </p:extLst>
          </p:nvPr>
        </p:nvGraphicFramePr>
        <p:xfrm>
          <a:off x="548640" y="1887650"/>
          <a:ext cx="8046720" cy="2514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在此场景的落地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数据不出域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金融数据隔离部署内部网段，模型走私有化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答案可追溯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可疑交易报告带依据：命中规则 / 交易 / 账户 / 关联图谱，来源可查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敏感件零漏判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漏报是合规事故——验收口径：给定验证集召回率 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人能判断、AI 能执行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 / 上报 / 暂缓由反洗钱专员决定，智能体只能“建议”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3688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53688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53688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关键认知：工作流承载确定性、智能体承担灵活判断、人守住最后决定权——不是“一个聪明智能体把一切办完”。</a:t>
            </a:r>
            <a:endParaRPr lang="en-US" sz="12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方法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 = 自主性 + 决策循环（与 Workflow 三分）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编排工具：Dify / Coze / LangGraph 怎么选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六种模式二维判断：预定义/动态 × 单轮/闭环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三路分流；敏感件宁多升级不可漏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工程底座：LangGraph + MCP + 工具五件套 + 三层护栏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自动化边界三问：模式固定？出错代价？能否兜底？</a:t>
            </a:r>
            <a:endParaRPr lang="en-US" sz="13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94960" y="91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7000" dirty="0"/>
          </a:p>
        </p:txBody>
      </p:sp>
      <p:sp>
        <p:nvSpPr>
          <p:cNvPr id="5" name="Shape 3"/>
          <p:cNvSpPr/>
          <p:nvPr/>
        </p:nvSpPr>
        <p:spPr>
          <a:xfrm rot="2700000">
            <a:off x="7315200" y="-1097280"/>
            <a:ext cx="3108960" cy="3108960"/>
          </a:xfrm>
          <a:prstGeom prst="rect">
            <a:avLst/>
          </a:prstGeom>
          <a:solidFill>
            <a:srgbClr val="FFFFFF">
              <a:alpha val="7000"/>
            </a:srgbClr>
          </a:solidFill>
          <a:ln w="1651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2700000">
            <a:off x="7818120" y="-594360"/>
            <a:ext cx="2103120" cy="2103120"/>
          </a:xfrm>
          <a:prstGeom prst="rect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2700000">
            <a:off x="-1188720" y="3474720"/>
            <a:ext cx="2377440" cy="2377440"/>
          </a:xfrm>
          <a:prstGeom prst="rect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2700000">
            <a:off x="6675120" y="457200"/>
            <a:ext cx="292608" cy="292608"/>
          </a:xfrm>
          <a:prstGeom prst="rect">
            <a:avLst/>
          </a:prstGeom>
          <a:solidFill>
            <a:srgbClr val="C5CDE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2700000">
            <a:off x="6263640" y="256032"/>
            <a:ext cx="182880" cy="182880"/>
          </a:xfrm>
          <a:prstGeom prst="rect">
            <a:avLst/>
          </a:prstGeom>
          <a:solidFill>
            <a:srgbClr val="A8895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2700000">
            <a:off x="594360" y="4343400"/>
            <a:ext cx="365760" cy="365760"/>
          </a:xfrm>
          <a:prstGeom prst="rect">
            <a:avLst/>
          </a:prstGeom>
          <a:solidFill>
            <a:srgbClr val="C5CDE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325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章 · 实操四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8288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工单智能分级路由工作流（场景 C）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143000" y="2834640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Delta · Prototype · AI 施工（opencode + gstack + LangGraph）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solidFill>
            <a:srgbClr val="5C6BC0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写提示词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跑八环节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19856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三路验证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26864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双指标验收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25312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25312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33872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复盘交接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972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1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实操目标与产出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LangGraph 的 State / Node / Conditional Edge 构建固定路由工作流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647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分清分类器 vs 路由工作流 vs 受控 Agent（分类之后还要做事）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把“敏感件零漏判”落地为验收硬指标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6207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设计高质量工具 check_department，验证“工具描述决定准确率”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1071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83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说清“为什么这里不需要动态 Agent”（从最简单开始）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0788" y="3986784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0788" y="3986784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9388" y="398678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产出：工单分级路由工作流（自动答复 / 深度处理 / 转人工）+ Streamlit 界面 + 完整 gstack 交付件。路径预先枚举 = Agentic Workflow，不是动态自主 Agent。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0788" y="4553775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0788" y="4553775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9388" y="4553775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坡度最高级：分类器 → RAG → 路由工作流（预编排 + 分支动作）；真正动态受控 Agent 见实操四B（Lab4B）。</a:t>
            </a:r>
            <a:endParaRPr lang="en-US" sz="12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这一轮在 Ch11 坐标系里的位置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0116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Workflow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档位固定、分支预先枚举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判档只是开始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还要自动答复 / 查部门库 / 转人工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20116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编排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202996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/ Node / Conditional Edge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代码级框架（不用低代码平台）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精细控制状态与兜底逻辑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20116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三路分流 + HITL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202996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咨询→quick / 跨部门→deep / 敏感→escalate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敏感件“必须转人工”= 暂停等人工确认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这不是动态自主 Agent——档位与分支动作预先枚举；“观察结果后重新规划”的受控 Agent 在实操四B。</a:t>
            </a:r>
            <a:endParaRPr lang="en-US" sz="12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任务书：收到市民工单 → 判档 → 路由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105156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356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工单进入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初始化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709928"/>
            <a:ext cx="155448" cy="256032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06040" cy="105156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4356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判档 Node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判断：咨询 / 跨部门 / 敏感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71032" y="1709928"/>
            <a:ext cx="155448" cy="256032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06040" cy="105156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4356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条件边分流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Conditional Edge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47088" y="2377440"/>
            <a:ext cx="0" cy="41148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2606040" cy="10058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880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2278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自动答复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36008" y="2377440"/>
            <a:ext cx="0" cy="41148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37560" y="2788920"/>
            <a:ext cx="2606040" cy="10058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37560" y="278892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2880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跨部门类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32278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深度处理（调 check_department）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24928" y="2377440"/>
            <a:ext cx="0" cy="41148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2788920"/>
            <a:ext cx="2606040" cy="100584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788920"/>
            <a:ext cx="26060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0" y="2880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敏感类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32278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转人工（暂停等人工确认）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416052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41605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技术方案（已定）：路由工作流（Agentic Workflow）——不是分类器、不是 RAG、也不需要动态自主 Agent。验收时三路都要走通，且敏感件零漏判。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技术栈：opencode + gstack + LangGraph + DeepSeek + Streamlit（图 12-1）</a:t>
            </a:r>
            <a:endParaRPr lang="en-US" sz="10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实操四 · DoD 与小结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LangGraph：State / Node / Conditional Edge 构建固定路由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分清：分类器 / 路由工作流 / 受控 Agent（动态在 Lab4B）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🔺 敏感件零漏判：验证集召回率 100%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工具设计决定准确率：check_department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为什么不需要动态 Agent：从最简单开始</a:t>
            </a:r>
            <a:endParaRPr lang="en-US" sz="13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从公网到本地：私有化部署与模型微调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选型三问 · 部署形态 · 算力路线 · 微调最后一公里 · 切换适配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三条合规红线 + 选型三问（选哪个模型、API 还是本地）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私有化部署四种形态 + 合规可得算力路线 + 硬件规范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2257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 RAG 后微调、微调是最后一公里”的判断逻辑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9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 / QLoRA / 全参 SFT 三种方法与成本量级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56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一次微调的标准流程 + 数据治理 Gate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 → 本地/微调切换的三层适配与五步回归</a:t>
            </a:r>
            <a:endParaRPr lang="en-US" sz="13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为什么在本地部署 + 怎么选型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三条合规红线：数据不出域 · 算法备案 · 自主可控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选型三问：数据能否出域 / 能否本地部署 / 选哪个档位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经济性：烧不起公网 API，转本地跑</a:t>
            </a:r>
            <a:endParaRPr lang="en-US" sz="15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三条合规红线：为什么真实数据必须留在本地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28600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数据不能出域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255842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《数据安全法》《个保法》与出境评估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重要/政务/个人信息不得随意出境或交第三方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 API = 把数据交给第三方，直接违规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715768" cy="228600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7851" y="1371600"/>
            <a:ext cx="2715768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算法要备案、行为可解释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02678" y="2041295"/>
            <a:ext cx="266378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对外提供生成式 AI 服务须算法备案与安全评估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语料/模型/服务安全，上线前评估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依赖黑盒闭源服务，备案说不清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228600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499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自主可控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029968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信创要求模型/权重/算力可自管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政采普遍要求上线前检测、语料安全检测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权重掌握在自己手里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2976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三条红线不是“本地更好”的技术偏好，而是合规的硬要求——本地 / 私有化部署是政企场景的必要条件。</a:t>
            </a:r>
            <a:endParaRPr lang="en-US" sz="12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选型三问：在合规前提下把模型落到本地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19456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996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数据能否出域？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教学模拟数据 → 可走公网 API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真实客户数据 → 不能出域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不能出域就没有选择，直接进本地路线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219456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4996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能否本地部署？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202996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三个子条件合起来才算“能”：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权重可得（开源）· 算力与许可满足 · 自主可控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三者缺一不可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219456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4996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选哪个档位？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202996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任务复杂度定档：深度推理 → 大模型档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模式匹配 → 小模型档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公开基准初筛 + 业务数据实测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完整链路：数据不能出域 → 开源权重 + 算力 + 许可满足 → 按任务选档 → 部署形态与硬件规格（13.2）。</a:t>
            </a:r>
            <a:endParaRPr lang="en-US" sz="12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经济性动因：烧不起公网 API，转本地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公网 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随调用量线性增长（按 token 计费）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固定投入为主 + 低边际成本（GPU 折旧 + 电费 + 运维）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低调用量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便宜（API 划算）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不划算（GPU 利用率低）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高调用量/长上下文/批量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月成本涨到数十万元级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摊薄后月成本可低一个量级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提醒：“省钱”与“合规”是两个独立动因——合规是“必须本地”，成本是“划算本地”；不要用成本论证替代合规论证。</a:t>
            </a:r>
            <a:endParaRPr lang="en-US" sz="12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私有化部署：形态、算力路线与硬件规范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四种形态：本地机房 / 专属云 / 离线一体机 / 混合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算力路线：合规可得性优先分层选择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量化取舍 · 推理引擎 · 价格核算</a:t>
            </a:r>
            <a:endParaRPr lang="en-US" sz="150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 ≠ 只能放客户本地机房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本地机房 / 一体机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硬件部署在客户自有机房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涉密、高合规、无云依赖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专属云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客户专属 VPC / 资源隔离区，租户级隔离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一般政企、运维能力强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离线一体机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一体化交付，断电断网可运行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现场网络受限、极端隔离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混合部署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核心数据与模型在本地，外围走云 API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多数政企的现实形态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“出域”要拆开说（六情形）：出本地设备 / 出客户内网 / 上公有云 / 向第三方提供 / 跨境 / 出批准的安全域——合规要求完全不同，不得笼统称同一个“出域”。</a:t>
            </a:r>
            <a:endParaRPr lang="en-US" sz="12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算力路线：合规可得性优先分层选择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代表硬件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国产信创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 910C / Atlas 800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合规可得（信创默认，政企首选）；涉密走全私有化一体机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性价比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RTX 4090/5090、4×6000 Ada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中小规模、开发 / 中低频本地（留意出口管制）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吞吐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单张 AMD MI300X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高吞吐、省钱替代 API（ROCm 生态）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旗舰（仅参照）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B300（Blackwell Ultra）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禁运：官方渠道不可得，本书不推荐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98206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998206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99820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政企默认：涉密/高合规走全私有化一体机（昇腾）；一般政企走“私有化核心 + 云 API 补充”混合；信创环境默认昇腾路线。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910C 是当前国产算力中流砥柱（大湾区 11,520 张 910C 万卡集群已上线，截至 2026-08）。</a:t>
            </a:r>
            <a:endParaRPr lang="en-US" sz="95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显存规划与量化取舍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每参数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权重体积（每 10 亿参数）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FP16 / BF16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字节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2GB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全精度基线，评测对照用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FP8 / INT8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字节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1GB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生产默认（损失小、显存减半）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INT4 / FP4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 字节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0.5GB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逼近硬件极限才用，必须评测定档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总显存 ≈ 权重 + KV cache + 激活余量；所需卡数 = 总显存 ÷ 单卡显存。700B 示例：FP16≈140GB 需 ≥2 卡（80GB）· FP8≈70GB 需 ≥1 卡 · INT4≈35GB 单卡可装。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343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量化三步定档：①显存够不够（不够才量化）②精度敏不敏感（政务分类/RAG 答案保守，FP8 起步）③必须评测定档（低于验收线就升一档）——生产默认 FP8，INT4 慎用。</a:t>
            </a:r>
            <a:endParaRPr lang="en-US" sz="12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模型服务化与推理引擎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何时用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开源主流推理引擎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生产默认首选（吞吐高、生态全）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TensorRT-LLM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英伟达编译优化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英伟达硬件上追求极致性能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Triton / Dynamo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统一推理网关层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多模型 / 多框架统一服务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MindIE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 910C 默认推理引擎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国产昇腾栈（信创路线）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94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三个关键机制（同卡多并发）：①Continuous batching 动态拼批；②PagedAttention / KV cache 分页管理；③Prefix Caching 相同前缀只算一次（政务 RAG 命中率高、成本下降明显）。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572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多卡并行：TP 单机张量并行（首选）· PP 跨节点 · DP 吞吐优先 · EP MoE 专家并行；生产配 K8s + 入口网关 + 健康监控 + 多副本灰度。</a:t>
            </a:r>
            <a:endParaRPr lang="en-US" sz="12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高性价比档位与价格核算（V4 Flash 为例）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核心硬件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参考成本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极致性价比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单张 RTX 4090（24GB）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≈0.5–0.8 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个人开发者、轻量开发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消费级甜点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RTX 5090（32GB）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≈2–3 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 / 独立开发者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均衡之选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4× RTX 6000 Ada（192GB）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≈21 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小型团队、中等并发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企业级入门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 MI300X（192GB）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≈10 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追求吞吐的企业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Atlas 800（昇腾）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≈120–140 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数据合规 / 国产化政企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343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结论（2026 口径）：均衡档瓶颈是吞吐不是成本；“省钱替代 API”的现实档位是 MI300X 这类高吞吐大显存单卡；国产 Atlas 走合规路线而非省钱路线。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算成本别只算静态打平点：算力利用率 · 分摊模式 · 软硬件维护 · 折旧残值（GPU 36 个月残值约 30–40%）。</a:t>
            </a:r>
            <a:endParaRPr lang="en-US" sz="95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微调：判断、方法与成本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RAG 后微调——微调是最后一公里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 / QLoRA / 全参 SFT 三种方法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七步流程 + 数据治理 Gate</a:t>
            </a:r>
            <a:endParaRPr lang="en-US" sz="15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RAG 后微调：最后一公里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微调（LoRA 级）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擅长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事实/知识：可溯源、更新只需重建索引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行为/格式/风格/私有协议：固定输出、行业话术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不擅长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改变模型表达行为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注入“新事实”（微调不擅长记你没给的数据）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只改知识库，不碰权重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改权重，需评测 / 量化 / 回滚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骨架，先做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收尾，最后一公里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判断清单：先试过更简单的层吗？是“行为/格式”类问题吗？数据治理 Gate 过关吗？数据够好吗？有固定评测集吗？能接受回滚成本吗？——缺一项就回去，别直接上微调。</a:t>
            </a:r>
            <a:endParaRPr lang="en-US" sz="12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 / QLoRA / 全参 SFT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LoRA（低秩适配）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冻结原权重，只训练注入的低秩增量矩阵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显存低于全参；几百~几千条数据即可见效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QLoRA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4-bit 量化基座 + LoRA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显存再降，单卡可跑更大模型；训练慢、极端量化有损失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全参 SFT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更新全部权重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显存≈权重 4~6 倍；通常数万~百万条数据才值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2976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企业默认路径 = “量化基座 + LoRA/QLoRA”；全参 SFT 主要出现在上游厂商 / 专项后训练。决策先问“LoRA 够不够”。</a:t>
            </a:r>
            <a:endParaRPr lang="en-US" sz="12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一次微调的典型流程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085850"/>
            <a:ext cx="7315200" cy="512064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085850"/>
            <a:ext cx="54864" cy="5120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08585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数据治理 Gate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108585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授权/脱敏/版权/去重/泄漏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597914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652778"/>
            <a:ext cx="7315200" cy="512064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1652778"/>
            <a:ext cx="54864" cy="5120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65277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数据准备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165277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指令-回答 · 训/验/留出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164842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2219706"/>
            <a:ext cx="7315200" cy="512064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2219706"/>
            <a:ext cx="54864" cy="5120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221970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LoRA 训练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221970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量化基座 + 低秩增量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731770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2786634"/>
            <a:ext cx="7315200" cy="512064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2786634"/>
            <a:ext cx="54864" cy="5120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278663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合并 or adapter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278663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合并→重新量化编译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adapter→引擎动态挂载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298698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3353562"/>
            <a:ext cx="7315200" cy="512064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3353562"/>
            <a:ext cx="54864" cy="5120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335356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评测对照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0" y="335356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 + 量化前后 + 基线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3865626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" y="3920490"/>
            <a:ext cx="7315200" cy="512064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4400" y="3920490"/>
            <a:ext cx="54864" cy="5120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3000" y="392049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灰度替换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0" y="392049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 = 切回旧权重/adapter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4542512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4360" y="4542512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59" y="4542512"/>
            <a:ext cx="77307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工程纪律：合并路径需重新量化编译再上生产；上线前必须基准对比评测（不能整体退化）；保留可回滚旧版本。</a:t>
            </a:r>
            <a:endParaRPr lang="en-US" sz="12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 Gate：进微调前的第一关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657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数据来源有授权记录（客户数据用于训练是否在合同/制度范围内）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隐私与脱敏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个人信息先脱敏/去标识，训练样本不得带真实个人信息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不直接用未授权的第三方内容充当训练语料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重复样本去重，避免某类样本过度加权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血缘与版本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数据集带来源、版本号、生成脚本与改动记录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删除可达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数据应可删除/可剔除（客户撤回授权时能重训替换）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泄漏检查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评测集/盲测集不得进入训练语料——否则评测数字全部失真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5720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反模式：把验证集顺手加进训练集“提升效果”——这是微调项目最常见的自我欺骗，等于自己出题自己考。</a:t>
            </a:r>
            <a:endParaRPr lang="en-US" sz="12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红线呼应 + 小模型 QLoRA 实验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1508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本处落地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数据不出域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模型权重与微调数据不出政务/企业边界，走信创昇腾或合规可得算力私有化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人能判断、AI 能执行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“值不值得微调、评测是否达标、要不要回滚”由人拍板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 QLoRA 实验（可选，24GB 单卡）：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3328416"/>
            <a:ext cx="219456" cy="219456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7B 级开源模型 + 200–500 条“指令-回答”（8:1:1 划分）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831336"/>
            <a:ext cx="219456" cy="219456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3703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LLaMA-Factory 跑 QLoRA（4-bit 基座 + LoRA），记录显存与时长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334256"/>
            <a:ext cx="219456" cy="219456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05840" y="4206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固定评测集对比微调前 / 后；训练前保留原权重，证明“删掉 adapter 就回到原模型”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46634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4663440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DoD：训练数据过了治理 Gate（至少隐私与泄漏）· 有前后对比记录 · 能演示回滚 · 能说出“值不值得上生产”。</a:t>
            </a:r>
            <a:endParaRPr lang="en-US" sz="12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13.4–13.5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13.4–13.5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切换适配与动态速查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三层适配：接口 / 行为 / 质量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适配五步：接口抽象 → 行为回归 → 检索重建 → 量化对照 → 灰度回滚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硬件动态速查：信息截至 2026-08，以官方为准</a:t>
            </a:r>
            <a:endParaRPr lang="en-US" sz="15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为什么必须适配：三个层面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4688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超时与重试（本地并发池有限）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参数通道（temperature/max_tokens 语义）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并发与限流（RPM/TPM 由部署容量决定）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不兼容时自建 provider 适配层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24688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37560" y="1901952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指令遵循与 Prompt 兼容性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输出格式稳定性（JSON 解析失败率单测）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工具调用（schema 兼容、thinking 回传）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采样与上下文（tokenizer 差异）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24688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481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190195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量化漂移（FP8 小、NVFP4 明显、INT4 必须定档）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更换（场景 B）→ 必须重建索引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微调模型行为漂移（合并 vs adapter 有差异）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Demo 的验收口径在切换后必须重新验证成立，才允许宣告“本地回填完成”。</a:t>
            </a:r>
            <a:endParaRPr lang="en-US" sz="12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适配五步：从接口抽象到灰度回滚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6583680" cy="548640"/>
          </a:xfrm>
          <a:prstGeom prst="rect">
            <a:avLst/>
          </a:prstGeom>
          <a:solidFill>
            <a:srgbClr val="EC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54864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接口抽象与参数基线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80560" y="1234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 / 自建适配层；两套参数基线对照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783080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892808"/>
            <a:ext cx="6583680" cy="548640"/>
          </a:xfrm>
          <a:prstGeom prst="rect">
            <a:avLst/>
          </a:prstGeom>
          <a:solidFill>
            <a:srgbClr val="EC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1892808"/>
            <a:ext cx="54864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892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行为回归（冻结基准集）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1892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先测格式与工具，再测业务指标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2441448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2551176"/>
            <a:ext cx="6583680" cy="548640"/>
          </a:xfrm>
          <a:prstGeom prst="rect">
            <a:avLst/>
          </a:prstGeom>
          <a:solidFill>
            <a:srgbClr val="EC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2551176"/>
            <a:ext cx="54864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25511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检索重建与 embedding 回归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0560" y="2551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B：重建索引 + 命中/拒答回归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3099816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3209544"/>
            <a:ext cx="6583680" cy="548640"/>
          </a:xfrm>
          <a:prstGeom prst="rect">
            <a:avLst/>
          </a:prstGeom>
          <a:solidFill>
            <a:srgbClr val="EC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3209544"/>
            <a:ext cx="54864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32095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量化与精度对照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80560" y="3209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与公网基线同一基准对照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3758184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3867912"/>
            <a:ext cx="6583680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3867912"/>
            <a:ext cx="54864" cy="54864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38679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灰度双轨 → 正式切换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80560" y="3867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守卫 SLA，退化可回滚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03920" y="1965960"/>
            <a:ext cx="0" cy="2377440"/>
          </a:xfrm>
          <a:prstGeom prst="line">
            <a:avLst/>
          </a:prstGeom>
          <a:noFill/>
          <a:ln w="19050">
            <a:solidFill>
              <a:srgbClr val="D94F4F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3524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94F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回滚：切回旧权重/adapter/索引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645152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4645152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46451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顺序不跳、退化可回退：观察期退化 → 回滚 → 修复后重走 2–5 步。</a:t>
            </a:r>
            <a:endParaRPr lang="en-US" sz="12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动态速查：去哪查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92024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硬件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13.5 速查表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 · 参数 · 许可证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以官方模型卡为准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92024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/ 价格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7.3.3 / 7.3.4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 工具与订阅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以产品官网实时显示为准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192024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生态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7.6 速查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· OpenSpec · LangGraph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以官方发布为准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9319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来源纪律：型号、参数与许可证必须以厂商官方页为准，媒体与聚合站只作线索；把“待核验”写进交付物是反模式。</a:t>
            </a:r>
            <a:endParaRPr lang="en-US" sz="12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私有化部署与模型微调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为什么本地 + 选型三问：出域？本地？哪档？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部署四形态：机房 / 专属云 / 离线一体机 / 混合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RAG 后微调：RAG 管事实、微调管行为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方法：LoRA / QLoRA / 全参 SFT（默认 LoRA/QLoRA）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流程：数据治理 Gate → 训练 → 评测对照 → 灰度替换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公网→本地：接口 / 行为 / 质量三层适配回归 + 回滚</a:t>
            </a:r>
            <a:endParaRPr lang="en-US" sz="13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生产化 · 工程 Scale：生产落地与客户接管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五个转换 · 假设核验 · 生产准入 Gate · 自运营接管 · 能力回注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 Prototype / FDE Build / FDE Scale；五个关键转换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验证真实环境下的数据 / 系统 / 业务 / 责任四类假设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2257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模型输出接入真实业务动作 + 人工兜底闭环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9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生产准入 Gate（八项）判断能否上线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56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客户自运营、接管演练与 FDE 撤出条件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识别并验证可回注的工程机制与业务本体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主线：FDE 的 Build 是把原型嵌入客户真实业务；FDE 的 Scale 是让客户自运营 + 能力回注。必做贯穿任务，产出证据供第 16 章评审。</a:t>
            </a:r>
            <a:endParaRPr lang="en-US" sz="12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Prototype 到客户环境：五个关键转换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 1–3 完成 Build：嵌入真实业务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 4–5 属于 Scale：自运营 + 回注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五个转换缺一不可</a:t>
            </a:r>
            <a:endParaRPr lang="en-US" sz="15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Build / Scale 的五个关键转换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7315200" cy="56692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54864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模拟数据 → 真实数据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12344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 / 分布 / 质量差异验证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801368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892808"/>
            <a:ext cx="7315200" cy="56692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1892808"/>
            <a:ext cx="54864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8928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独立 Demo → 客户业务系统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8928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· 事实来源 · 写回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459736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2551176"/>
            <a:ext cx="7315200" cy="566928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2551176"/>
            <a:ext cx="54864" cy="566928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25511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模型输出 → 业务动作闭环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5511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 → 确认 → 动作 → 写回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118104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3209544"/>
            <a:ext cx="7315200" cy="56692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3209544"/>
            <a:ext cx="54864" cy="56692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32095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开发者运行 → 客户团队运营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320954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自运营 · 接管演练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776472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3867912"/>
            <a:ext cx="7315200" cy="566928"/>
          </a:xfrm>
          <a:prstGeom prst="rect">
            <a:avLst/>
          </a:prstGeom>
          <a:solidFill>
            <a:srgbClr val="EC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3867912"/>
            <a:ext cx="54864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38679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客户定制 → 平台能力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8679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区分客户内容 / 通用机制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46177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只完成前两个是“把 Demo 接到客户系统”；第四个不完成 Scale 没有发生；第五个不做公司退回“卖人力”。</a:t>
            </a:r>
            <a:endParaRPr lang="en-US" sz="12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 1 · 模拟数据 → 真实数据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" cy="5943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现场问题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2344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原型测试集自己造的、字段干净；真实数据有缺失、脏值、格式不一致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4864" cy="5943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判断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19202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分布差异是否影响验收指标？真实数据能否在安全域内使用？谁负责、如何更新？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54864" cy="59436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606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反模式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2606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用原型测试集指标冒充真实数据验证——没有真实样本的“接入”不成立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 2 · 独立 Demo → 客户业务系统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4864" cy="5486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703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判断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77440" y="3703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入口在哪？调哪些现有系统？哪个是事实来源？结果写回哪里？失败时业务如何继续？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54864" cy="54864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343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反模式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77440" y="4343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只把 Demo 部署到一台服务器就宣称“接入”——没有入口、写回、事实来源 = 没接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验收：端到端演示——输入 → 判断 → 写回 → 可查（西岭：分类出“住建”要调用模拟工单接口写回，不是弹个标签）。</a:t>
            </a:r>
            <a:endParaRPr lang="en-US" sz="10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 3 · 4 · 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30204"/>
            <a:ext cx="8046720" cy="114300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30204"/>
            <a:ext cx="54864" cy="114300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399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模型输出 → 业务动作闭环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23360" y="113993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模型给出结果 ≠ 业务动作完成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动作链：输入 → 判断 → 谁确认 → 哪个动作 → 写回哪里 → 失败停哪 → 谁继续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64644"/>
            <a:ext cx="8046720" cy="114300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64644"/>
            <a:ext cx="54864" cy="11430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3743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开发者运行 → 客户团队运营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23360" y="237437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谁启动/停服务 · 谁处理失败 · 谁维护规则 · 谁批准变更 · 谁担最终责任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“客户离不开原作者”不是 Scale 成功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99084"/>
            <a:ext cx="8046720" cy="114300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499084"/>
            <a:ext cx="54864" cy="11430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60881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客户定制 → 平台能力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23360" y="360881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哪些只能留在客户域内？哪些对象/关系/动作/机制有通用性？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代码可复用 ≠ 业务语义可复用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反模式：分类正确但工单接口超时、工单没真正分派——“模型指标正确 ≠ 业务闭环完成”。</a:t>
            </a:r>
            <a:endParaRPr lang="en-US" sz="12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14.2–14.4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14.2–14.4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真实环境适配与业务闭环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四类假设核验：数据 / 系统 / 业务 / 责任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 = 业务语义对齐 + 找事实来源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模型输出必须进入真实流程闭合动作</a:t>
            </a:r>
            <a:endParaRPr lang="en-US" sz="15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原型假设核验表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86384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客户现场证据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不成立的影响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调整动作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数据可得、口径一致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真实样本 + 字段映射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指标失真或范围收窄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换数据源 / 回 Prototype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接口稳定、可写回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联调记录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无法闭合动作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降级人工 / 换集成方式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业务规则有正式口径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业务方确认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自动判断不可信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收窄自动化边界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责任边界清楚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责任人确认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不敢上线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补《谁负责》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2976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最常被跳过的是“原型测试集是否代表真实业务分布”——测试集自己造的，指标必然好看，真实分布一换数字就要重测。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业务假设最容易被技术视角漏掉，却最影响能不能上线——Echo 参与确认（呼应第 5 章干系人）。</a:t>
            </a:r>
            <a:endParaRPr lang="en-US" sz="105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业务语义对齐 + 找事实来源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19456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找事实来源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对每个关键数据明确：哪个系统是唯一事实来源？有无冲突来源？谁能解释字段？延迟多长？错误谁修？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219456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对齐业务术语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“诉求/案件/事件/工单”是否同一对象？“责任部门/承办部门”是否同义？——不能自行猜测，与 Echo、业务方、系统负责人共同确认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219456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36208" y="1499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收集回注候选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核心业务对象 · 属性 · 关系 · 生命周期状态 · 可执行动作 · 权限与审批条件（完整通用性判断由第 15 章完成）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案例：工单系统的“类别”= 责任部门，数据平台的“类别”= 事件性质——只按字段名对接，分类结果会写入错误位置。数据接入首先是业务语义对齐，不是接口调用。</a:t>
            </a:r>
            <a:endParaRPr lang="en-US" sz="120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进入客户环境后必须闭合的动作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Prototype 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必须闭合的动作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诉求分类器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输出分类标签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写回工单 · 低置信度进人工队列 · 人工修正回流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 RAG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输出答案和来源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引用可打开原文 · 文档版本可核对 · 更新后重建并重新验证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路由工作流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输出处理分支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调用真实工具 · 进入审批 · 动作结果回写 · 失败可恢复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66160"/>
            <a:ext cx="8196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人工兜底不是标签：有明确接收队列 · 有负责人 · 有处理时限 · 人工可见上下文 · 审核结果能回写 · 未处理会告警 · 可评测改进。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29768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2976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案例：系统输出“转人工”但没有人工队列、负责人和处理时限——人工兜底必须进入真实流程，不能只是一个标签。</a:t>
            </a:r>
            <a:endParaRPr lang="en-US" sz="12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14.5–14.7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生产准入 · 现场变化 · 保障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八项生产准入 Gate：判断能否上线交给客户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现场变化分级处理，变更不绕过 Echo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必须会判断，但不必包办实现</a:t>
            </a:r>
            <a:endParaRPr lang="en-US" sz="150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八项 FDE 生产准入条件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713248"/>
              </p:ext>
            </p:extLst>
          </p:nvPr>
        </p:nvGraphicFramePr>
        <p:xfrm>
          <a:off x="761999" y="1028700"/>
          <a:ext cx="6992815" cy="3909645"/>
        </p:xfrm>
        <a:graphic>
          <a:graphicData uri="http://schemas.openxmlformats.org/drawingml/2006/table">
            <a:tbl>
              <a:tblPr/>
              <a:tblGrid>
                <a:gridCol w="1112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0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4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Gate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通过证据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数据接入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真实数据可用且责任清楚吗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数据样本 · 字段映射 · 质量报告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4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系统集成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输入、动作和状态回写接通了吗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接口联调记录 · 端到端演示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4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权限责任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谁能看/改/批准清楚吗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权限矩阵 · 责任确认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4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异常兜底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外部依赖失败后业务还能继续吗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故障演练 · 人工队列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4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过程追溯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能还原一次业务判断和动作吗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 · 审计 · 版本标识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4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发布回退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新版本退化时能恢复吗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灰度记录 · 回滚验证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4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客户接管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客户团队能独立运行吗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运行手册 · 接管演练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4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回注准备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能区分客户专属与通用能力吗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回注候选 · 复用证据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现场变化处理分级（Delta 不默认继续加代码）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520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适用情况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临时修复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紧急恢复，不改变业务边界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配置调整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变化属于已设计的配置范围（类别清单 / 阈值 / 部门映射做成配置项）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通用组件修改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多场景存在同类需求，值得工程回注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 Prototype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技术方案或指标需要重新验证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 Discovery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业务问题、用户或价值假设发生变化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风险、成本或价值已不成立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必须确认的判断要点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56692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配置与密钥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97480" y="123444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配置与代码分离；Secret 不进源码；缺配置安全失败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8046720" cy="56692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54864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8928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日志审计指标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97480" y="189280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 · 谁做了什么 · 用什么模型/版本 · 现在是否异常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51176"/>
            <a:ext cx="8046720" cy="56692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54864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5511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超时重试降级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255117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失败是否重试？有副作用的动作要幂等（幂等键/状态确认/补偿）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8046720" cy="56692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54864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2095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权限动作边界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97480" y="320954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模型能建议什么、能执行什么；哪些必须人工批准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67912"/>
            <a:ext cx="8046720" cy="566928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867912"/>
            <a:ext cx="54864" cy="56692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8679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灰度回滚监控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97480" y="386791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新版本先小范围验证；退化可切回；告警有负责人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562621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562621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562621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反模式：工单分派接口超时，系统不知道第一次是否成功，重试把同一工单分派两次——涉及外部动作时必须设计幂等键 / 状态确认 / 补偿。</a:t>
            </a:r>
            <a:endParaRPr lang="en-US" sz="12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14.10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14.8–14.10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自运营接管 · 回注 · 贯穿实操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 owner · 接管演练 · 撤出九条件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工程能力 + 业务语义两类回注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七环节贯穿实操：Demo 接入模拟客户环境</a:t>
            </a:r>
            <a:endParaRPr lang="en-US" sz="15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客户自运营 + 撤出条件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 owner：业务 · 技术 · 数据 · 人工审核 · 安全合规 · 事故升级（RACI：谁负责/批准/咨询/知会）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客户需掌握：启动与健康检查 · 看状态 · 处理人工任务 · 更新政策/配置 · 处理常见故障 · 版本回滚 · 发起变更审批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接管演练：接管组不能询问原作者，只能依据运行手册完成启动、处理预设异常、确认业务状态并恢复——文档是否有效由接管者判断。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825496"/>
            <a:ext cx="237744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owner 已确认 · 日常操作已培训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209544"/>
            <a:ext cx="237744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172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172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常见故障可独立处理 · 人工审核队列有人负责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593592"/>
            <a:ext cx="237744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5570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5570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关键指标有人查看 · 版本变更有审批流程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237744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9410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9410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支持边界和升级渠道已确认 · 未关闭风险已书面接受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361688"/>
            <a:ext cx="237744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4325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客户在限定观察期内完成独立运行</a:t>
            </a:r>
            <a:endParaRPr lang="en-US" sz="11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两类回注对象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15087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回注类型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判断重点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· provider 适配 · 审计 · 失败兜底 · 健康检查 · 交接模板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能否跨 Demo 复用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业务语义候选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 · 关系 · 状态 · 动作 · 权限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能否跨客户解释和执行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97179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成熟度：概念本体（已定义对象/关系/动作）→ 可执行本体（已映射数据/接口/权限/状态）→ 已验证回注能力（已在第二场景完成复用验证）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356615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工程验证：对象属性有稳定数据来源 · 身份可唯一确认 · 关系有维护机制 · 状态有合法路径 · 动作有真实接口 · 客户专属数据没进公共平台 · 至少一个模型在第二场景复用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297678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4297678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429767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不得把一张对象关系图直接称为平台能力——未完成数据、动作、权限和第二场景验证，只能叫“概念模型”。</a:t>
            </a:r>
            <a:endParaRPr lang="en-US" sz="12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七环节：模拟客户环境接入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90479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047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5390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核验原型假设（数据格式差异 → 更新方案边界）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584255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8425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47679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接入客户数据和系统（字段映射 · 调模拟工单接口 · 写回）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78031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7803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1455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闭合人工兜底（低置信度进队列 · 审核回写 · 超时提醒）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71807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71807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35231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处理现场变化（新增类别 / 字段改名 / 接口失败 → 分级处理）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65583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065583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29007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生产准入评审（八项 Gate 逐项证据与风险）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59359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55935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52278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跨组接管（接管组仅靠手册：启动 / 正常单 / 人工单 / 接口异常 / 恢复）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053135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053135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016559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能力回注（抽象工程机制 + 对象/动作模型 → 第二场景复用）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46911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546911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546911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最终认知：Demo 能跑 ≠ 进入客户业务 ≠ 客户能接管 ≠ 能力可跨客户复用。</a:t>
            </a:r>
            <a:endParaRPr lang="en-US" sz="12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生产化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区分：Prototype / FDE Build / FDE Scale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四类假设核验：数据 / 流程 / 系统 / 责任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模型输出接入业务动作 + 人工兜底闭环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八项生产准入 Gate：有条件通过 / 试点 / 返回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客户自运营 + 接管演练 + 撤出（依赖下降=完成）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能力回注：业务本体 + 工程机制（第二场景验证）</a:t>
            </a:r>
            <a:endParaRPr lang="en-US" sz="13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0" b="1" dirty="0">
                <a:solidFill>
                  <a:srgbClr val="5C6BC0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5CDE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价值化 · 业务 Scale：</a:t>
            </a:r>
          </a:p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价值落地、组织采纳与能力回注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三个不等于 · 价值证据链 · 门槛动机信任 · 试点推广 Gate · 本体回注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7276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1051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4825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2374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6148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697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0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12464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50208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87952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25696" y="4114800"/>
            <a:ext cx="118872" cy="118872"/>
          </a:xfrm>
          <a:prstGeom prst="ellipse">
            <a:avLst/>
          </a:prstGeom>
          <a:solidFill>
            <a:srgbClr val="5C6BC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118872" cy="11887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2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本章导学：学习目标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三个不等于：验收 ≠ 价值 ≠ 采用 ≠ 回注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价值证据链：痛点 → 基线 → 能力 → 指标 → 变化 → 价值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2257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五类口径：年度价值 / 净收益 / TCO / ROI / 回收期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89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 · 动机 · 信任诊断“推不动 / 没人用”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83864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56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Scale：试点 → 复核 → 扩大 Gate → 停止条件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能力回注联合决策：Echo 判通用性 + Delta 证复用性 + 本体承载</a:t>
            </a:r>
            <a:endParaRPr lang="en-US" sz="130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从“系统能运行”到“组织愿意采用”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三个不等于：本章暗线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 Scale vs 业务 Scale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三个话题 ↔ Scale Gate 三份证据</a:t>
            </a:r>
            <a:endParaRPr lang="en-US" sz="150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三个“不等于”（本章暗线）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20116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不等于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工程验收通过 ≠ 业务价值成立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监控指标再漂亮，也可能没解决客户真正的痛点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业务价值成立 ≠ 组织愿意采用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坐席怕被替代、管理层担心没人负责，照样用不起来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组织愿意采用 ≠ 能力已经回注平台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客户用得再好，不做回注，公司照样退回“卖人力”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8912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38912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3891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判断必须建立在第 14 章工程证据上——“能稳定运行”要说成“跨组接管演练通过”，不能只给口头承诺。</a:t>
            </a:r>
            <a:endParaRPr lang="en-US" sz="120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 Scale vs 业务 Scale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126411"/>
              </p:ext>
            </p:extLst>
          </p:nvPr>
        </p:nvGraphicFramePr>
        <p:xfrm>
          <a:off x="548640" y="1371600"/>
          <a:ext cx="8046720" cy="1508760"/>
        </p:xfrm>
        <a:graphic>
          <a:graphicData uri="http://schemas.openxmlformats.org/drawingml/2006/table">
            <a:tbl>
              <a:tblPr/>
              <a:tblGrid>
                <a:gridCol w="1810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尺度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 Scale（第 14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系统能否稳定运行、监控、恢复并接管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 · 指标 · 故障注入 · 回滚 · 接管演练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 Scale（本章）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组织是否愿意采用、推广，价值是否成立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价值证据链 · 采用反馈 · 回注判断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两者共同构成完整 Scale：Delta 让系统接得住，Echo 让组织愿意接——缺一不可。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本章所有判断必须建立在第 14 章的工程证据上，不能只给口头承诺。</a:t>
            </a:r>
            <a:endParaRPr lang="en-US" sz="115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三个话题 ↔ Scale Gate 三份证据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242991"/>
              </p:ext>
            </p:extLst>
          </p:nvPr>
        </p:nvGraphicFramePr>
        <p:xfrm>
          <a:off x="548640" y="1371600"/>
          <a:ext cx="8046720" cy="2011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回答的问题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 Scale Gate 证据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 err="1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对决策层证明价值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系统值多少钱、多久回本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通过证据：价值成立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 err="1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推动用户采纳与推广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一线用不用、组织铺不铺得开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客户能自运营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 err="1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能力回注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哪些对象、关系、动作值得带回平台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回注候选通过复用验证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0071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790071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790071"/>
            <a:ext cx="7742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三个话题恰好对应 Scale Gate 三份证据 + 全书主线“卖人力 → 卖能力”——本章就是 Scale 阶段业务侧的落地。</a:t>
            </a:r>
            <a:endParaRPr lang="en-US" sz="120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对决策层证明价值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价值证据链：从业务痛点走到可量化价值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五类口径分开：年度价值 / 净收益 / TCO / ROI / 回收期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只算 AI 真覆盖 · 给区间 · 标来源 · 锁口径</a:t>
            </a:r>
            <a:endParaRPr lang="en-US" sz="150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价值证据链：每一环都要有证据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008126"/>
            <a:ext cx="7315200" cy="512064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008126"/>
            <a:ext cx="54864" cy="5120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00812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业务痛点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66160" y="100812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 · 有痛感 · 有代价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520190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611630"/>
            <a:ext cx="7315200" cy="512064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1611630"/>
            <a:ext cx="54864" cy="5120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61163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当前基线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161163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数字从哪来、口径是什么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123694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2215134"/>
            <a:ext cx="7315200" cy="512064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2215134"/>
            <a:ext cx="54864" cy="5120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221513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系统能力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21513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覆盖什么 · 兜底什么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727198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2818638"/>
            <a:ext cx="7315200" cy="512064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2818638"/>
            <a:ext cx="54864" cy="5120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281863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技术指标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66160" y="281863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盲测 + 运行指标（第 14 章）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330702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3422142"/>
            <a:ext cx="7315200" cy="512064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3422142"/>
            <a:ext cx="54864" cy="5120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342214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业务变化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66160" y="342214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返工减少 · 时间下降 · 体验改善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3934206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" y="4025646"/>
            <a:ext cx="7315200" cy="512064"/>
          </a:xfrm>
          <a:prstGeom prst="rect">
            <a:avLst/>
          </a:prstGeom>
          <a:solidFill>
            <a:srgbClr val="EC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4400" y="4025646"/>
            <a:ext cx="54864" cy="5120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3000" y="402564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可量化价值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66160" y="402564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五类口径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631495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4631495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4631495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禁止从“准确率达到某个数字”直接跳到“每年节省多少成本”——缺基线 / 覆盖比例 / 每单节省 / 人工兜底成本任一环，数字就是编的。</a:t>
            </a:r>
            <a:endParaRPr lang="en-US" sz="120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五类口径：不能混着叫“ROI”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24712"/>
            <a:ext cx="2606040" cy="15544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年度价值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5506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效率收益 + 质量收益 + 风险避免收益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124712"/>
            <a:ext cx="2606040" cy="15544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124712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年净收益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65506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年度价值 − 年运营增量成本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124712"/>
            <a:ext cx="2606040" cy="15544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124712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234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65506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建设 + 运行 + 维护 + 人工审核成本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2606040" cy="155448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816352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34670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(累计收益 − 总投入) / 总投入，覆盖整个投资周期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68980" y="2816352"/>
            <a:ext cx="2606040" cy="1554480"/>
          </a:xfrm>
          <a:prstGeom prst="rect">
            <a:avLst/>
          </a:prstGeom>
          <a:solidFill>
            <a:srgbClr val="FDECEA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68980" y="2816352"/>
            <a:ext cx="2606040" cy="54864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6042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投资回收期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06140" y="334670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总投入 / 月净收益——“多久回本”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4805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 ROI 必须覆盖整个投资周期（累计收益对累计投入），不是一年的数字；客户要“赚回几倍”另用收益成本比。</a:t>
            </a:r>
            <a:endParaRPr lang="en-US" sz="120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估算方法：先问客户最想看到的变化，套对应公式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年价值公式（示意）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效率型（省时间）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日均处理量 × 年运行天数 × AI 覆盖比例 × 每单节省工时 × 单位时间成本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质量型（少出错）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日均处理量 × 年运行天数 × 原错误率 × 错误率降幅 × 单次错误损失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收入型（多赚钱）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日均增量转化量 × 年运行天数 × 客单价 × 净利率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0332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7033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年运行天数要写明来源（客户确认或实测，如 365 天 24 小时值守）——否则数字不可复算、不可审计。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示例（效率型，教学假设）：日均 2000 条 × 250 天 × 60% 简单件 × 每条省 1.5 分钟 × 时薪 40 元 ≈ 年省 32 万。</a:t>
            </a:r>
            <a:endParaRPr lang="en-US" sz="105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四条估算纪律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" cy="685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口径第一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2344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只算“AI 真正覆盖的那部分”——只覆盖 60% 简单件，只能按 60% 算省下的人时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68580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4864" cy="685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给区间不给单点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0116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 / 基准 / 乐观三场景（如 ≈14 万 / 32 万 / 59 万），不是拍一个数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8046720" cy="68580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4864" cy="685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每个数字标来源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7889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 / 客户确认 / 教学假设 / 待验证——基线、覆盖率取自第 14 章盲测与运行证据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68580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54864" cy="68580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566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书面锁口径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56616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会后发邮件列清参数取值与区间——“我们聊的”变成“我们共同确认的”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锁口径最容易跳过、代价最大：三个月后换负责人，翻出方案只看到“年省 32 万”，却不知道是“简单件 60%”假设下算的——算完就发那封邮件。</a:t>
            </a:r>
            <a:endParaRPr lang="en-US" sz="120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对决策层的话术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" cy="82296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6187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“最可能年省 32 万；即使效果打折（保守）也有十几万——可验证的经济可行性，不是拍脑袋。”再以“上线后 N 周用真实运营数据出真数字”收尾。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54864" cy="6858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快赢追问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0" y="22402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先上哪个、何时见效 → 回到第 6 章快赢场景，给“一个月看什么、三个月出真实数字”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4864" cy="6858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追责追问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3017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数据泄露谁负责 → 人是最终决策者、AI 只给建议；数据不出域、可回滚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864" cy="68580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794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失业追问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43200" y="37947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会不会让我失业 → 机器干重复、人干判断，人在 checkpoint 把关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对外汇报提供区间与假设，不使用未经验证的单点承诺；第 16 章汇报同样遵守。</a:t>
            </a:r>
            <a:endParaRPr lang="en-US" sz="120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推动用户采纳与推广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 · 动机 · 信任——“推不动”总能归到三件里至少一件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四类干系人各自的表达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Scale：试点 → 复核 → 扩大 Gate → 停止条件</a:t>
            </a:r>
            <a:endParaRPr lang="en-US" sz="150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组织采用：门槛 · 动机 · 信任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478123"/>
              </p:ext>
            </p:extLst>
          </p:nvPr>
        </p:nvGraphicFramePr>
        <p:xfrm>
          <a:off x="152400" y="1280160"/>
          <a:ext cx="8845063" cy="2011680"/>
        </p:xfrm>
        <a:graphic>
          <a:graphicData uri="http://schemas.openxmlformats.org/drawingml/2006/table">
            <a:tbl>
              <a:tblPr/>
              <a:tblGrid>
                <a:gridCol w="184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2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障碍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症状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Echo 策略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门槛高（不好上手）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表单多、绕原流程、没人教</a:t>
                      </a: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“自己写放心”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简化流程 · 默认值模板 · 现场走查配陪跑 · 种子用户先试用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动机弱（对他没好处）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“跟我有什么关系”“是不是要我多干活”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讲“角色升级” · 让他参与验收标准 · 量化展示省下时间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信任低（不可靠）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“会不会又分错”“出问题找谁”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小范围试点 · 写清《谁负责》 · 出错可回滚 · 定期异常报告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77948" y="36713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先降门槛让人愿意试 → 再用动机让人持续用 → 用信任让人敢依赖。每条对策都要能指到第 14 章工程证据。</a:t>
            </a:r>
            <a:endParaRPr lang="en-US" sz="1200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r>
              <a:rPr lang="zh-CN" alt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</a:t>
            </a:r>
            <a:r>
              <a:rPr lang="en-US" sz="260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动作（每关指到工程证据</a:t>
            </a: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01168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运行稳定性 · 一键启动 · 操作手册（Delta 证据）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种子用户先试用一个月，对比手工 vs 系统时长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2011680"/>
          </a:xfrm>
          <a:prstGeom prst="rect">
            <a:avLst/>
          </a:prstGeom>
          <a:solidFill>
            <a:srgbClr val="F5ECE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使用时长与工作量变化（指标）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“从每条都看”变“只看 AI 拿不准的”——角色升级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201168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4996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 · HITL · 回滚报告 · 安全域证据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《谁负责》一页纸：人是最终决策者、AI 只给建议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说服的关键不是讲道理，是改变他在项目里的“位置”和“安全感”。对“高权力 + 低兴趣”的监管层：关键节点主动预审，并给内部推手做“小抄”。</a:t>
            </a:r>
            <a:endParaRPr lang="en-US" sz="120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面向四类干系人的表达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干系人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核心关切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主要证据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决策层（陈主任）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值不值得 · 何时见效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年度价值 · ROI · 回收期 · 剩余风险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操作层（小王）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好不好用 · 是否增加负担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流程变化 · 人工兜底 · 实际采用反馈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技术层（李工）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能否维护 · 出问题怎么办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运行手册 · 监控 · 回滚和接管证据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监管层（市数据局）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 · 权限 · 责任 · 审计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安全域 · 权限矩阵 · 审计记录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别讲技术，讲“对你意味着什么”——先判断谁在听、他最关心什么、该讲哪套。</a:t>
            </a:r>
            <a:endParaRPr lang="en-US" sz="120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双线话术示范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26353"/>
            <a:ext cx="8046720" cy="502920"/>
          </a:xfrm>
          <a:prstGeom prst="rect">
            <a:avLst/>
          </a:prstGeom>
          <a:solidFill>
            <a:srgbClr val="E4EFE4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26353"/>
            <a:ext cx="45720" cy="50292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26353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金字塔结论句模板：“这套（系统）上线后，（核心价值·用数字）；全程（约束，如数据不出域）；需要你（一个具体动作）。”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57873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757873"/>
            <a:ext cx="54864" cy="1188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49313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对陈主任（决策层 · 讲价值）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196785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“一年能省约 30 万人工分派工时——算的是每天 2000 条里那 60% 的简单件；全程数据不出政务网；三个月后用真实数据再出准确数字，您下月去市里汇报可以直接用。”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83753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083753"/>
            <a:ext cx="54864" cy="11887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175193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对市数据局（监管层 · 讲合规）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522665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“一开始就把合规放第一位：数据不出政务外网、模型本地部署、流程不进公网；AI 只做辅助分类，关键决策由人拍板，出错可回滚、可追责。”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01073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4501073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501073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同一个方案翻译成两套话术——陈主任听“值不值、能不能拿去汇报”，市数据局听“合规、责任、审计”。</a:t>
            </a:r>
            <a:endParaRPr lang="en-US" sz="1200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Scale：有 Gate 的渐进过程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603504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54864" cy="60350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小范围试点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34840" y="128016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种子用户 · 一个部门/一类诉求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0" cy="109728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993392"/>
            <a:ext cx="7315200" cy="603504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1993392"/>
            <a:ext cx="54864" cy="60350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99339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真实数据验证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34840" y="19933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采用率 · 转人工率 · 业务指标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596896"/>
            <a:ext cx="0" cy="109728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2706624"/>
            <a:ext cx="7315200" cy="603504"/>
          </a:xfrm>
          <a:prstGeom prst="rect">
            <a:avLst/>
          </a:prstGeom>
          <a:solidFill>
            <a:srgbClr val="EC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2706624"/>
            <a:ext cx="54864" cy="60350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270662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扩大范围 Gate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34840" y="270662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/ 价值 / 工程 / 容量 四项全过？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310128"/>
            <a:ext cx="0" cy="109728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3419856"/>
            <a:ext cx="7315200" cy="603504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3419856"/>
            <a:ext cx="54864" cy="60350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341985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扩大范围 → 客户自运营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34840" y="341985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进入下一批推广 · 衔接第 14 章撤出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1" y="4297680"/>
            <a:ext cx="7315200" cy="50292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0475" y="4297680"/>
            <a:ext cx="61132" cy="5029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399" y="4297680"/>
            <a:ext cx="72991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未过 → 补短板（门槛动机信任 / 口径 / 生产差距 / 容量）→ 回验证；持续不达标 → 暂停 / 停止</a:t>
            </a:r>
            <a:endParaRPr lang="en-US" sz="1200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5C6BC0">
              <a:alpha val="13000"/>
            </a:srgbClr>
          </a:solidFill>
          <a:ln w="12700">
            <a:solidFill>
              <a:srgbClr val="C5CDE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C5CDE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能力回注：把跨客户的价值带回平台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四步法 + 三块拼图（分类 · 问答 · 路由 + HITL）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两条路径：工程能力回注 / 业务语义回注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 = 业务语义回注的载体（六类元素）</a:t>
            </a:r>
            <a:endParaRPr lang="en-US" sz="1500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能力回注四步法 + 三块拼图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20240" cy="1417320"/>
          </a:xfrm>
          <a:prstGeom prst="rect">
            <a:avLst/>
          </a:prstGeom>
          <a:solidFill>
            <a:srgbClr val="DBE4F0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识别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8105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西岭专属“碎石路” vs 别的客户也要的“能铺路”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96312" y="182880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1920240" cy="141732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97480" y="1280160"/>
            <a:ext cx="19202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389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抽象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07208" y="18105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定制逻辑泛化成标准模块（类别清单做成配置项）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182880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1920240" cy="1417320"/>
          </a:xfrm>
          <a:prstGeom prst="rect">
            <a:avLst/>
          </a:prstGeom>
          <a:solidFill>
            <a:srgbClr val="E4EFE4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1920240" cy="54864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389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集成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56048" y="18105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并入平台、标准化为可配置组件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93992" y="1828800"/>
            <a:ext cx="201168" cy="274320"/>
          </a:xfrm>
          <a:prstGeom prst="rightArrow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1280160"/>
            <a:ext cx="1920240" cy="1417320"/>
          </a:xfrm>
          <a:prstGeom prst="rect">
            <a:avLst/>
          </a:prstGeom>
          <a:solidFill>
            <a:srgbClr val="ECF0F9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1280160"/>
            <a:ext cx="1920240" cy="54864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389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验证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04888" y="1810512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确认真能复用、不回坏平台质量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三块拼图：分类器（是什么）· RAG（依据）· 路由（怎么办）——合起来才是完整能力栈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2606040" cy="1005840"/>
          </a:xfrm>
          <a:prstGeom prst="rect">
            <a:avLst/>
          </a:prstGeom>
          <a:solidFill>
            <a:srgbClr val="DBE4F0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260604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分类器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3867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答“是什么”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通用文本分类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429000"/>
            <a:ext cx="2606040" cy="1005840"/>
          </a:xfrm>
          <a:prstGeom prst="rect">
            <a:avLst/>
          </a:prstGeom>
          <a:solidFill>
            <a:srgbClr val="E4EFE4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37560" y="3429000"/>
            <a:ext cx="2606040" cy="4572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3756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337560" y="3867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答“依据”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可溯源知识库问答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429000"/>
            <a:ext cx="2606040" cy="1005840"/>
          </a:xfrm>
          <a:prstGeom prst="rect">
            <a:avLst/>
          </a:prstGeom>
          <a:solidFill>
            <a:srgbClr val="F5ECE0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26480" y="3429000"/>
            <a:ext cx="2606040" cy="4572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2648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26480" y="3867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答“怎么办”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分级路由 + 兜底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" y="4709160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47091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最通用的那一个：三处都用的“拿不准就兜底转人工”（HITL）——同时是第四条红线的落地。</a:t>
            </a:r>
            <a:endParaRPr lang="en-US" sz="1200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两条互补的回注路径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233668"/>
              </p:ext>
            </p:extLst>
          </p:nvPr>
        </p:nvGraphicFramePr>
        <p:xfrm>
          <a:off x="548640" y="1280160"/>
          <a:ext cx="8046720" cy="1508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回注什么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工程能力回注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可跨系统复用的技术机制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· 日志 · 审计 · provider 适配 · 重试熔断 · 健康检查 · 发布回滚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 </a:t>
                      </a:r>
                      <a:r>
                        <a:rPr lang="en-US" sz="1150" dirty="0" err="1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业务语义回注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对业务世界的稳定表达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 · 属性 · 关系 · 状态 · 动作 · 业务规则 · 权限边界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Echo 主导抽象，Delta 验证实现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53265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3553265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553265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两条路径分别回答：工程能力回注——“这套技术机制能否在下一个系统复用？”；业务语义回注——“这套业务语言能否在下一个客户复用？”</a:t>
            </a:r>
            <a:endParaRPr lang="en-US" sz="1200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本体论三层 + 六类基础元素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哲学本体论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研究“存在”本身——概念源头，不直接进入工程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知识表示层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用类 / 属性 / 关系 / 实例描述领域（Gruber 定义）——“能查询的概念模型”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操作型业务本体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在对象 / 属性 / 关系之上，再纳入状态 / 动作 / 权限治理——“能执行、能治理的模型”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3337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六类基础元素：对象类型 · 属性 · 关系类型 · 状态 · 动作类型 · 权限与治理——组织成人和系统都能共同理解、查询和执行的业务语言（平台无关，Palantir 是代表实现而非唯一标准）。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023360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0233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本书只借鉴 Palantir Foundry 的建模思想（教材提炼），不需要学员有 Foundry 账号——领域模型、知识图谱、业务对象层均可表达同类思想。</a:t>
            </a:r>
            <a:endParaRPr lang="en-US" sz="1200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274320"/>
            <a:ext cx="83022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西岭最小业务本体：把三个 Demo 统一到同一业务世界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194560" cy="640080"/>
          </a:xfrm>
          <a:prstGeom prst="rect">
            <a:avLst/>
          </a:prstGeom>
          <a:solidFill>
            <a:srgbClr val="DBE4F0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19456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市民诉求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194560" cy="640080"/>
          </a:xfrm>
          <a:prstGeom prst="rect">
            <a:avLst/>
          </a:prstGeom>
          <a:solidFill>
            <a:srgbClr val="F5ECE0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194560" cy="4572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政策条款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194560" cy="640080"/>
          </a:xfrm>
          <a:prstGeom prst="rect">
            <a:avLst/>
          </a:prstGeom>
          <a:solidFill>
            <a:srgbClr val="F5ECE0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194560" cy="45720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政策文件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15218" y="2375095"/>
            <a:ext cx="2194560" cy="640080"/>
          </a:xfrm>
          <a:prstGeom prst="rect">
            <a:avLst/>
          </a:prstGeom>
          <a:solidFill>
            <a:srgbClr val="ECF0F9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15218" y="2375095"/>
            <a:ext cx="2194560" cy="45720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15218" y="2375095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58418" y="2375095"/>
            <a:ext cx="2194560" cy="640080"/>
          </a:xfrm>
          <a:prstGeom prst="rect">
            <a:avLst/>
          </a:prstGeom>
          <a:solidFill>
            <a:srgbClr val="E4EFE4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58418" y="2375095"/>
            <a:ext cx="2194560" cy="45720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58418" y="2375095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责任部门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18738" y="2375095"/>
            <a:ext cx="2194560" cy="640080"/>
          </a:xfrm>
          <a:prstGeom prst="rect">
            <a:avLst/>
          </a:prstGeom>
          <a:solidFill>
            <a:srgbClr val="FDECEA"/>
          </a:solidFill>
          <a:ln/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18738" y="2375095"/>
            <a:ext cx="2194560" cy="457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18738" y="2375095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人工审核任务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578" y="3243775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关系：诉求→依据→条款→属于→文件；诉求→生成→工单→分派给→部门；工单→触发→人工审核任务→审核→工单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578" y="3655255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工单状态：待分类 → 待分派 → 处理中 → 待人工审核 → 已解决 / 已驳回 / 已关闭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578" y="4158175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578" y="4158175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5178" y="4158175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Demo 不是互不相关的技术盒子：分类器补“类别+置信度”、RAG 建“诉求—条款—文件”依据、路由执行“分派—升级—审核”——统一建模才可跨城市复用。</a:t>
            </a:r>
            <a:endParaRPr lang="en-US" sz="1200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四层能力回注模型：回注什么、不回注什么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514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回注层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回注内容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西岭示例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适合公共回注？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客户特定数据与知识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西岭政策文本、部门名称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通常否，留在客户域内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可复用对象/属性/关系/状态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诉求、政策、部门、工单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跨场景验证后可以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可复用业务动作和规则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分类、查依据、分派、升级、审批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权限与接口验证后可以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权限、审计和责任边界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谁能看/改/批准、如何追责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通用机制可回注，策略配置化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2976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不应回注：客户原始数据 · 个人信息与敏感实例 · 专属政策文本 · 未授权业务规则 · 客户部门与人员信息；不为了“通用”过度抽象。</a:t>
            </a:r>
            <a:endParaRPr lang="en-US" sz="1200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回注优先级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530652"/>
              </p:ext>
            </p:extLst>
          </p:nvPr>
        </p:nvGraphicFramePr>
        <p:xfrm>
          <a:off x="519333" y="1005840"/>
          <a:ext cx="804672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业务通用性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是否在多个客户或行业重复出现（Echo 判）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语义稳定性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对象和关系是否长期稳定，而非临时流程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工程可实现性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是否有可靠数据、接口和状态来源（Delta 判）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治理可落地性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权限、审计、责任和回滚是否清楚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复用收益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是否能明显降低下一次交付成本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回注风险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是否带入客户数据、知识产权或错误抽象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19333" y="4383845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19333" y="4383845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7933" y="4383845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验证标准：只需替换对象实例、部门配置和内容数据，不推倒“请求—依据—责任主体—工单—人工审核”结构 → 有跨场景复用价值。</a:t>
            </a:r>
            <a:endParaRPr lang="en-US" sz="1200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价值化 · 本章小结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三个不等于：验收 ≠ 价值 ≠ 采用 ≠ 回注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价值证据链：痛点→基线→能力→指标→价值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五口径分开：年价值 / 净收益 / TCO / ROI / 回收期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组织采用：门槛 / 动机 / 信任 + 分听众表达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Scale：试点 → 采用复核 → 扩大 Gate → 停止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回注联合决策：Echo 判通用 + Delta 证复用</a:t>
            </a:r>
            <a:endParaRPr lang="en-US" sz="1300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94960" y="91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5C6BC0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7000" dirty="0"/>
          </a:p>
        </p:txBody>
      </p:sp>
      <p:sp>
        <p:nvSpPr>
          <p:cNvPr id="5" name="Shape 3"/>
          <p:cNvSpPr/>
          <p:nvPr/>
        </p:nvSpPr>
        <p:spPr>
          <a:xfrm rot="2700000">
            <a:off x="7315200" y="-1097280"/>
            <a:ext cx="3108960" cy="3108960"/>
          </a:xfrm>
          <a:prstGeom prst="rect">
            <a:avLst/>
          </a:prstGeom>
          <a:solidFill>
            <a:srgbClr val="FFFFFF">
              <a:alpha val="7000"/>
            </a:srgbClr>
          </a:solidFill>
          <a:ln w="1651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2700000">
            <a:off x="7818120" y="-594360"/>
            <a:ext cx="2103120" cy="2103120"/>
          </a:xfrm>
          <a:prstGeom prst="rect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2700000">
            <a:off x="-1188720" y="3474720"/>
            <a:ext cx="2377440" cy="2377440"/>
          </a:xfrm>
          <a:prstGeom prst="rect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2700000">
            <a:off x="6675120" y="457200"/>
            <a:ext cx="292608" cy="292608"/>
          </a:xfrm>
          <a:prstGeom prst="rect">
            <a:avLst/>
          </a:prstGeom>
          <a:solidFill>
            <a:srgbClr val="C5CDE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2700000">
            <a:off x="6263640" y="256032"/>
            <a:ext cx="182880" cy="182880"/>
          </a:xfrm>
          <a:prstGeom prst="rect">
            <a:avLst/>
          </a:prstGeom>
          <a:solidFill>
            <a:srgbClr val="A8895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2700000">
            <a:off x="594360" y="4343400"/>
            <a:ext cx="365760" cy="365760"/>
          </a:xfrm>
          <a:prstGeom prst="rect">
            <a:avLst/>
          </a:prstGeom>
          <a:solidFill>
            <a:srgbClr val="C5CDE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868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325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章 · 实操五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8288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综合证据评审与决策层汇报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143000" y="2834640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角色全团队（Echo + Delta）· Scale 收口 · 评审 + 汇报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solidFill>
            <a:srgbClr val="5C6BC0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双层验收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04288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11296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19856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阶段决策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26864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客户汇报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25312" y="4023360"/>
            <a:ext cx="1115568" cy="29260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25312" y="40233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33872" y="43525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讲演收尾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972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认证培训》教科书配套课件 · 西岭市民服务平台单案例贯穿</a:t>
            </a:r>
            <a:endParaRPr lang="en-US" sz="1100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实操目标与产出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8602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8602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5859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双层验收：三个单点 MVP 双视角 + 实操四B 受控 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3466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3466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723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能力回注四步法：哪些“碎石路”能铺装成“公路”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8330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8330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5587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每场景下一阶段决策：Go / Conditional Go / Continue Pilot / No-Go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73194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3194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0451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框架 + 合规交代：面向决策层“双线汇报”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80586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28058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5315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理解“会做 ≠ 会说 ≠ 会决策”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45756"/>
            <a:ext cx="8046720" cy="402336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845756"/>
            <a:ext cx="45720" cy="402336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84575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产出：综合评审与交付决策包（两层验收 + 回注总结 + 每场景决策单 + 十页汇报稿）。不做新功能，只做四件事：验收 / 回注 / 决策 / 汇报。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59578"/>
            <a:ext cx="8046720" cy="402336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359578"/>
            <a:ext cx="45720" cy="402336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35957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核心隐喻：碎石路 → 铺装公路——把西岭定制铺成给所有客户的能力。</a:t>
            </a:r>
            <a:endParaRPr lang="en-US" sz="1200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演练背景与流程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前几轮走完完整 FDE 交付闭环：Ch6 Echo 拆场景定方案 → Ch8/10/12 Delta 三个单点 MVP → 实操四B（可选）受控 Agent → 第 14 章客户环境与接管证据 → 第 15 章价值与回注判断。本实操不做新功能。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046720" cy="47548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" cy="47548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第一层验收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三个单点 MVP：Echo 需求满足 + Delta 生产可用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2487168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8046720" cy="475488"/>
          </a:xfrm>
          <a:prstGeom prst="rect">
            <a:avLst/>
          </a:prstGeom>
          <a:solidFill>
            <a:srgbClr val="F5E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54864" cy="475488"/>
          </a:xfrm>
          <a:prstGeom prst="rect">
            <a:avLst/>
          </a:prstGeom>
          <a:solidFill>
            <a:srgbClr val="A889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5786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第二层验收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57860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实操四B：动态选工具 · 观察 · 追问 · 真暂停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3054096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145536"/>
            <a:ext cx="8046720" cy="475488"/>
          </a:xfrm>
          <a:prstGeom prst="rect">
            <a:avLst/>
          </a:prstGeom>
          <a:solidFill>
            <a:srgbClr val="E4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54864" cy="475488"/>
          </a:xfrm>
          <a:prstGeom prst="rect">
            <a:avLst/>
          </a:prstGeom>
          <a:solidFill>
            <a:srgbClr val="5B7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455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能力回注评审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14553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碎石路 → 铺装公路 · 三块拼图 + Agent + 本体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621024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712464"/>
            <a:ext cx="8046720" cy="475488"/>
          </a:xfrm>
          <a:prstGeom prst="rect">
            <a:avLst/>
          </a:prstGeom>
          <a:solidFill>
            <a:srgbClr val="ECF0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712464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7124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下一阶段决策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71246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/ Conditional Go / Continue Pilot / No-Go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4187952"/>
            <a:ext cx="0" cy="9144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279392"/>
            <a:ext cx="8046720" cy="475488"/>
          </a:xfrm>
          <a:prstGeom prst="rect">
            <a:avLst/>
          </a:prstGeom>
          <a:solidFill>
            <a:srgbClr val="DB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279392"/>
            <a:ext cx="54864" cy="475488"/>
          </a:xfrm>
          <a:prstGeom prst="rect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279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决策层汇报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427939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十页骨架 · 双线话术 · 三句话收尾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8046720" cy="402336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45720" cy="402336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4663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使用边界：关键判断由 Echo + Delta 自己完成；AI 只作辅助（整理证据 / 润色 / 红队追问）——“AI 能写一份看起来对的总结，写不出你真正相信的、有判断的总结”。</a:t>
            </a:r>
            <a:endParaRPr lang="en-US" sz="1200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客户汇报：金字塔结构十页骨架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235884"/>
              </p:ext>
            </p:extLst>
          </p:nvPr>
        </p:nvGraphicFramePr>
        <p:xfrm>
          <a:off x="548640" y="1129516"/>
          <a:ext cx="7557868" cy="3749042"/>
        </p:xfrm>
        <a:graphic>
          <a:graphicData uri="http://schemas.openxmlformats.org/drawingml/2006/table">
            <a:tbl>
              <a:tblPr/>
              <a:tblGrid>
                <a:gridCol w="1356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结论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一句话：做了什么 + 核心价值（数字）+ 投入产出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业务问题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客户原有痛点 / 当初验收标准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方案与价值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 MVP + 实操四B 各一个价值点 + ROI 框架（给区间）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合规与约束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数据不出域 / 模拟数据边界与本地回填 / 责任边界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验证证据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盲测与用户反馈：能证明什么、不能证明什么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能力回注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碎石路铺成哪些公路：三块拼图 + Agent + 本体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下一阶段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各场景 Go / Conditional Go / Continue Pilot / No-Go 一览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风险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未关闭风险与降险动作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需要的支持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决策层要批准什么：资源 / 试点范围 / 本地部署立项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949A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下一步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Demo → 生产路径 + “上线后 N 周出真实数字”承诺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讲演收尾 · 每组 5 分钟（三句话结构）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1333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1333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2189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验收结论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11880" y="112189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两层验收结果：需求满足了吗？能不能上生产？（含实操四B）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94485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4485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5341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能力回注清单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185341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碎石路铺成了哪条公路？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76378"/>
            <a:ext cx="411480" cy="411480"/>
          </a:xfrm>
          <a:prstGeom prst="ellipse">
            <a:avLst/>
          </a:prstGeom>
          <a:solidFill>
            <a:srgbClr val="3949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67637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58493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949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下一阶段与客户价值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258493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每个场景的决策是什么？值不值？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6217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汇报人：Echo 和 Delta 各一人上台（检验全团队）；听众扮“客户”追问。评分维度：判断力 / 能力回注 / 决策质量 / 客户视角 / 表达。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86509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预演常问：快赢（先上哪个？何时见效）· 追责（数据泄露谁负责？）· 失业（机器干重复、人干判断）· No-Go 场景（为什么？怎么向发起人交代？）</a:t>
            </a:r>
            <a:endParaRPr lang="en-US" sz="1100" dirty="0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章小结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914400" cy="32004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实操五 · DoD 与收官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🔺 四条红线全部闭环：不出域 / 可追溯 / 零漏判 / 人能判断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295144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2037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双层验收：MVP 双视角 + 实操四B 受控 Agent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807208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能力回注四步法：碎石路 → 铺装公路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19272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22783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每场景决策：Go / Conditional Go / Continue Pilot / No-Go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双线汇报：ROI 框架 + 合规交代（十页）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37160" cy="137160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425196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会做 ≠ 会说 ≠ 会决策：交付 = 基于证据的判断</a:t>
            </a:r>
            <a:endParaRPr lang="en-US" sz="1300" dirty="0"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5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89594-11F3-3833-278A-EC690BD0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AEE9F6-C982-76CA-0F9B-20A3A94CB368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61093B-BC2A-5338-C1A8-EA7A107B4B78}"/>
              </a:ext>
            </a:extLst>
          </p:cNvPr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143876-9C27-C0C7-ADF7-7D0F85760BF9}"/>
              </a:ext>
            </a:extLst>
          </p:cNvPr>
          <p:cNvSpPr/>
          <p:nvPr/>
        </p:nvSpPr>
        <p:spPr>
          <a:xfrm>
            <a:off x="6492240" y="18288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5C6BC0">
                    <a:alpha val="18000"/>
                  </a:srgbClr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B5A80AF-2CA7-A99D-F86E-FE97CED03BC0}"/>
              </a:ext>
            </a:extLst>
          </p:cNvPr>
          <p:cNvSpPr/>
          <p:nvPr/>
        </p:nvSpPr>
        <p:spPr>
          <a:xfrm>
            <a:off x="7223760" y="-1280160"/>
            <a:ext cx="3474720" cy="347472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5CDEC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E53BFB-61F8-F322-BA94-996F2C796C44}"/>
              </a:ext>
            </a:extLst>
          </p:cNvPr>
          <p:cNvSpPr/>
          <p:nvPr/>
        </p:nvSpPr>
        <p:spPr>
          <a:xfrm>
            <a:off x="7726680" y="-685800"/>
            <a:ext cx="2468880" cy="246888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83307DF-2B02-F1B4-B2FC-B1294172D98F}"/>
              </a:ext>
            </a:extLst>
          </p:cNvPr>
          <p:cNvSpPr/>
          <p:nvPr/>
        </p:nvSpPr>
        <p:spPr>
          <a:xfrm>
            <a:off x="-1188720" y="3657600"/>
            <a:ext cx="2560320" cy="2560320"/>
          </a:xfrm>
          <a:prstGeom prst="ellipse">
            <a:avLst/>
          </a:prstGeom>
          <a:solidFill>
            <a:srgbClr val="3949AB">
              <a:alpha val="15000"/>
            </a:srgbClr>
          </a:solidFill>
          <a:ln w="12700">
            <a:solidFill>
              <a:srgbClr val="C5CDEC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F4B3291-CBAA-5431-3E33-0AB54F93C6EC}"/>
              </a:ext>
            </a:extLst>
          </p:cNvPr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C5CDE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E9C16E1-B3E5-065C-B66E-B5B5248AF63C}"/>
              </a:ext>
            </a:extLst>
          </p:cNvPr>
          <p:cNvSpPr/>
          <p:nvPr/>
        </p:nvSpPr>
        <p:spPr>
          <a:xfrm>
            <a:off x="1097280" y="914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5CDEC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课程结束 · 感谢聆听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BE59839-8E4C-DD24-6D80-CE240F48E571}"/>
              </a:ext>
            </a:extLst>
          </p:cNvPr>
          <p:cNvSpPr/>
          <p:nvPr/>
        </p:nvSpPr>
        <p:spPr>
          <a:xfrm>
            <a:off x="1097280" y="1371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 × 施工力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7C762CC-A1F2-85FA-BB16-CD27E9D74A78}"/>
              </a:ext>
            </a:extLst>
          </p:cNvPr>
          <p:cNvSpPr/>
          <p:nvPr/>
        </p:nvSpPr>
        <p:spPr>
          <a:xfrm>
            <a:off x="1143000" y="2240280"/>
            <a:ext cx="2011680" cy="4114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232A3EB-1B43-B3E2-6953-51FC937A22B1}"/>
              </a:ext>
            </a:extLst>
          </p:cNvPr>
          <p:cNvSpPr/>
          <p:nvPr/>
        </p:nvSpPr>
        <p:spPr>
          <a:xfrm>
            <a:off x="1097280" y="2377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D9E0F5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带回你的项目——从卖人力到卖能力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1702CD0-D59A-F9F6-0B2A-ECC2F4F2086D}"/>
              </a:ext>
            </a:extLst>
          </p:cNvPr>
          <p:cNvSpPr/>
          <p:nvPr/>
        </p:nvSpPr>
        <p:spPr>
          <a:xfrm>
            <a:off x="1188720" y="3191256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FF856E4-25B0-6BAB-22AB-1EC0AE181845}"/>
              </a:ext>
            </a:extLst>
          </p:cNvPr>
          <p:cNvSpPr/>
          <p:nvPr/>
        </p:nvSpPr>
        <p:spPr>
          <a:xfrm>
            <a:off x="150876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9E0F5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五实操总分总：Echo 定方向 → Delta 施工 → 全团队收口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D87BCA6-8D52-D4BA-04EA-78268FB86B29}"/>
              </a:ext>
            </a:extLst>
          </p:cNvPr>
          <p:cNvSpPr/>
          <p:nvPr/>
        </p:nvSpPr>
        <p:spPr>
          <a:xfrm>
            <a:off x="1188720" y="3630168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5140898-D1B1-0362-C450-394A77727DEB}"/>
              </a:ext>
            </a:extLst>
          </p:cNvPr>
          <p:cNvSpPr/>
          <p:nvPr/>
        </p:nvSpPr>
        <p:spPr>
          <a:xfrm>
            <a:off x="1508760" y="35021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9E0F5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四条红线：不出域 · 可追溯 · 零漏判 · 人能判断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396938C-576A-AD3C-A61D-550F65558453}"/>
              </a:ext>
            </a:extLst>
          </p:cNvPr>
          <p:cNvSpPr/>
          <p:nvPr/>
        </p:nvSpPr>
        <p:spPr>
          <a:xfrm>
            <a:off x="1188720" y="4069080"/>
            <a:ext cx="164592" cy="164592"/>
          </a:xfrm>
          <a:prstGeom prst="ellipse">
            <a:avLst/>
          </a:prstGeom>
          <a:solidFill>
            <a:srgbClr val="5C6BC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D34C9A2-B422-8FC6-B671-429FA9C8BD64}"/>
              </a:ext>
            </a:extLst>
          </p:cNvPr>
          <p:cNvSpPr/>
          <p:nvPr/>
        </p:nvSpPr>
        <p:spPr>
          <a:xfrm>
            <a:off x="1508760" y="3941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9E0F5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能力回注：碎石路 → 铺装公路，越做越省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45A186F-E12A-10E3-3271-2428D47F9A81}"/>
              </a:ext>
            </a:extLst>
          </p:cNvPr>
          <p:cNvSpPr/>
          <p:nvPr/>
        </p:nvSpPr>
        <p:spPr>
          <a:xfrm>
            <a:off x="109728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5CDEC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《人工智能工程师（高级）FDE 认证培训》 · FDE-101：https://www.cloudzun.com/fde-course/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34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17450</Words>
  <Application>Microsoft Office PowerPoint</Application>
  <PresentationFormat>全屏显示(16:9)</PresentationFormat>
  <Paragraphs>4077</Paragraphs>
  <Slides>307</Slides>
  <Notes>307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307</vt:i4>
      </vt:variant>
    </vt:vector>
  </HeadingPairs>
  <TitlesOfParts>
    <vt:vector size="313" baseType="lpstr">
      <vt:lpstr>Microsoft YaHei</vt:lpstr>
      <vt:lpstr>Aptos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FDE 认证培训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FDE 认证培训 · 全套 16 章</dc:title>
  <dc:subject>《人工智能工程师（高级）FDE 认证培训》教科书配套课件 · 西岭市民服务平台单案例贯穿</dc:subject>
  <dc:creator>人工智能工程师（高级）FDE 认证培训</dc:creator>
  <cp:lastModifiedBy>Abraham Cheng</cp:lastModifiedBy>
  <cp:revision>11</cp:revision>
  <dcterms:created xsi:type="dcterms:W3CDTF">2026-09-01T10:56:06Z</dcterms:created>
  <dcterms:modified xsi:type="dcterms:W3CDTF">2026-09-01T13:26:44Z</dcterms:modified>
</cp:coreProperties>
</file>