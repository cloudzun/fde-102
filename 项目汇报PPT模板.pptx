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9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2A2C1-D601-4727-B9B6-C9F2FD1F3C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F6BEC-AADE-46C2-B74B-9588E2B542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indent="0"/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【</a:t>
            </a:r>
            <a:r>
              <a:rPr 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马总总结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】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、划小部分全部去掉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2022</a:t>
            </a:r>
            <a:r>
              <a:rPr 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年工作方面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：</a:t>
            </a:r>
            <a:endParaRPr lang="zh-CN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突出在全省做了哪些工作：支撑市场、中台运营、数智化支撑、对外变现、支撑系统升级转型（和分公司有关联的：如统一支撑平台）我们做的事情：能力路演、中台竞赛、网格支撑、书记项目、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IPA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取得的呈现（数字员工，覆盖哪些流程场景），分公司哪些做的比较好的表扬；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、问题与思考：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(1)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智慧中台能力运营方面存在问题、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(2)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数字化支撑能力全省还有哪些问题、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(3)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市公司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IT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人才队伍建设存在哪些问题；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23</a:t>
            </a:r>
            <a:r>
              <a:rPr lang="zh-CN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年工作方面：</a:t>
            </a:r>
            <a:endParaRPr lang="zh-CN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夯实数字底座，提升能力价值，围绕需要分公司如何配合展开。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建议：明天上午召集相关室，分解任务；重大工作需要体现：在集团领先队伍（智慧运维、高价值能力、获得大的奖项）不一定需要大段文字，体现关键词即可。指标有选择的放。了解总部、公司新精神。</a:t>
            </a:r>
            <a:endParaRPr 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突出新一代支撑系统降本增效的成效和目标；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新架构、新框架不断引入），用软件换硬件、自主可控；</a:t>
            </a:r>
            <a:endParaRPr lang="zh-CN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indent="0"/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参考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WORD </a:t>
            </a:r>
            <a:r>
              <a:rPr lang="zh-CN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：驾驶舱一点看全、简单留给前台、复杂留给机器；服务调用链、全业务知识图谱，提升可观察监控能力，提升支撑效能和满意度的抓手；业务规则可视化等</a:t>
            </a:r>
            <a:endParaRPr lang="zh-CN" altLang="en-US" b="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FDDC3A-2F94-48B4-856F-AEA5E5EF44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85709" y="857232"/>
            <a:ext cx="11715832" cy="5643602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p"/>
              <a:defRPr sz="16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Wingdings" panose="05000000000000000000" pitchFamily="2" charset="2"/>
              <a:buChar char="Ø"/>
              <a:defRPr sz="16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Wingdings" panose="05000000000000000000" pitchFamily="2" charset="2"/>
              <a:buChar char="ü"/>
              <a:defRPr sz="14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3760" y="-27384"/>
            <a:ext cx="10972800" cy="642918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11664952" y="6608764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6CC8DB58-FD91-49BA-8B81-4C52C88F7A2F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3" y="581225"/>
            <a:ext cx="10852237" cy="648000"/>
          </a:xfrm>
        </p:spPr>
        <p:txBody>
          <a:bodyPr vert="horz" lIns="135463" tIns="50799" rIns="101597" bIns="50799" rtlCol="0" anchor="ctr" anchorCtr="0">
            <a:noAutofit/>
          </a:bodyPr>
          <a:lstStyle>
            <a:lvl1pPr marL="0" marR="0" algn="l" defTabSz="1219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67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6" y="1508125"/>
            <a:ext cx="10852151" cy="4749165"/>
          </a:xfrm>
          <a:prstGeom prst="rect">
            <a:avLst/>
          </a:prstGeom>
        </p:spPr>
        <p:txBody>
          <a:bodyPr vert="horz" lIns="135463" tIns="0" rIns="110064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t="75972"/>
          <a:stretch>
            <a:fillRect/>
          </a:stretch>
        </p:blipFill>
        <p:spPr>
          <a:xfrm rot="10800000" flipV="1">
            <a:off x="0" y="4838701"/>
            <a:ext cx="12192000" cy="20192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056"/>
          <a:stretch>
            <a:fillRect/>
          </a:stretch>
        </p:blipFill>
        <p:spPr>
          <a:xfrm>
            <a:off x="0" y="0"/>
            <a:ext cx="9144000" cy="1162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643912" y="5248274"/>
            <a:ext cx="2424138" cy="1609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-178803"/>
            <a:ext cx="1817719" cy="138905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05" y="6009449"/>
            <a:ext cx="1217854" cy="808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  <a:buClr>
                <a:srgbClr val="4F81BD"/>
              </a:buClr>
              <a:buFont typeface="Wingdings" panose="05000000000000000000" charset="0"/>
              <a:buNone/>
            </a:pPr>
            <a:endParaRPr lang="zh-CN" altLang="en-US" sz="105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20000"/>
              </a:lnSpc>
              <a:buClr>
                <a:srgbClr val="4F81BD"/>
              </a:buClr>
              <a:buFont typeface="Wingdings" panose="05000000000000000000" charset="0"/>
              <a:buNone/>
            </a:pPr>
            <a:endParaRPr lang="zh-CN" altLang="en-US" sz="105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32919" y="6231238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>
                <a:solidFill>
                  <a:prstClr val="black"/>
                </a:solidFill>
              </a:rPr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microsoft.com/office/2007/relationships/hdphoto" Target="../media/image2.wdp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0058400" y="-178803"/>
            <a:ext cx="1817719" cy="13890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568905" y="6009449"/>
            <a:ext cx="1217854" cy="808704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30294" y="6231238"/>
            <a:ext cx="560419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>
                <a:solidFill>
                  <a:prstClr val="black"/>
                </a:solidFill>
              </a:rPr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667000" y="4387915"/>
            <a:ext cx="6857999" cy="1337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第一组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88D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汇报人：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组员：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88D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2026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年</a:t>
            </a:r>
            <a:r>
              <a:rPr lang="en-US" altLang="zh-CN" b="1" dirty="0">
                <a:solidFill>
                  <a:srgbClr val="0088D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月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88D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" y="2213087"/>
            <a:ext cx="12191999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西岭市民服务平台+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AI+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智能化项目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88D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76872" y="119911"/>
            <a:ext cx="10721187" cy="697812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zh-CN"/>
            </a:defPPr>
            <a:lvl1pPr>
              <a:spcBef>
                <a:spcPct val="0"/>
              </a:spcBef>
              <a:buNone/>
              <a:defRPr sz="2800" b="1" kern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××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88D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88D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65000"/>
          </a:schemeClr>
        </a:solidFill>
        <a:ln>
          <a:noFill/>
        </a:ln>
      </a:spPr>
      <a:bodyPr rtlCol="0" anchor="ctr"/>
      <a:lstStyle>
        <a:defPPr algn="ctr">
          <a:defRPr sz="14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2400" b="1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WPS 演示</Application>
  <PresentationFormat>宽屏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Wingdings</vt:lpstr>
      <vt:lpstr>Microsoft YaHei UI</vt:lpstr>
      <vt:lpstr>Calibri</vt:lpstr>
      <vt:lpstr>Times New Roman</vt:lpstr>
      <vt:lpstr>Calibri</vt:lpstr>
      <vt:lpstr>Arial Unicode MS</vt:lpstr>
      <vt:lpstr>等线</vt:lpstr>
      <vt:lpstr>2_Office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绿胤</dc:creator>
  <cp:lastModifiedBy>宋洋申子</cp:lastModifiedBy>
  <cp:revision>31</cp:revision>
  <dcterms:created xsi:type="dcterms:W3CDTF">2023-02-28T00:41:00Z</dcterms:created>
  <dcterms:modified xsi:type="dcterms:W3CDTF">2026-09-10T07:59:17Z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1B4FA596F0B94E36A9EEE19DC248EDCC_13</vt:lpwstr>
  </property>
</Properties>
</file>