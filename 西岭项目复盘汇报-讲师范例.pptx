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7" r:id="rId2"/>
    <p:sldId id="966" r:id="rId3"/>
    <p:sldId id="967" r:id="rId4"/>
    <p:sldId id="968" r:id="rId5"/>
    <p:sldId id="969" r:id="rId6"/>
    <p:sldId id="970" r:id="rId7"/>
    <p:sldId id="971" r:id="rId8"/>
    <p:sldId id="97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3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2A2C1-D601-4727-B9B6-C9F2FD1F3CD6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3F6BEC-AADE-46C2-B74B-9588E2B542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【范例提示】封面沿用模板原设计（青色渐变带 + 品牌蓝标题）。只需替换：项目名、组别、汇报人、日期。7 分钟汇报不做目录页、不做项目背景铺垫。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DFDDC3A-2F94-48B4-856F-AEA5E5EF44D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【范例提示】结论必须放第 2 页，用业务语言（避免 RAG / Agent 等技术词）。决策四选一：Go / Conditional Go / Continue Pilot / No-Go。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【范例提示】左栏客户原话（匿名化），右栏你重新识别的问题。当时找错方向也大方写——这是加分项。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【范例提示】本页是主角，给足时间。八环节横条 + 两色标注，底下写清“最致命缺口 + 后果 + 如果重来一次怎么做”。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【范例提示】左=已有证据（标状态），右=仍是假设。主动标注假设是加分；把假设说成实测，质询必被打穿。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【范例提示】每个候选答清：从哪识别 → 抽象成什么 → 哪一层（工具/机制/语义）→ 第二场景 → 谁维护。至少 1 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【范例提示】决策页必须有四要素：依据证据 / 剩余风险 / 补齐责任人 / 下一 Gate。并补一句“什么证据会改判”。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【范例提示】收尾只讲“要什么支持”，20 秒讲完。不要在此补内容、不要加致谢页。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jpe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285709" y="857232"/>
            <a:ext cx="11715832" cy="564360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p"/>
              <a:defRPr sz="16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Wingdings" panose="05000000000000000000" pitchFamily="2" charset="2"/>
              <a:buChar char="Ø"/>
              <a:defRPr sz="16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Wingdings" panose="05000000000000000000" pitchFamily="2" charset="2"/>
              <a:buChar char="ü"/>
              <a:defRPr sz="14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3760" y="-27384"/>
            <a:ext cx="10972800" cy="642918"/>
          </a:xfrm>
          <a:prstGeom prst="rect">
            <a:avLst/>
          </a:prstGeom>
        </p:spPr>
        <p:txBody>
          <a:bodyPr anchor="ctr"/>
          <a:lstStyle>
            <a:lvl1pPr algn="l"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11664952" y="6608764"/>
            <a:ext cx="52704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6CC8DB58-FD91-49BA-8B81-4C52C88F7A2F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3" y="581225"/>
            <a:ext cx="10852237" cy="648000"/>
          </a:xfrm>
        </p:spPr>
        <p:txBody>
          <a:bodyPr vert="horz" lIns="135463" tIns="50799" rIns="101597" bIns="50799" rtlCol="0" anchor="ctr" anchorCtr="0">
            <a:noAutofit/>
          </a:bodyPr>
          <a:lstStyle>
            <a:lvl1pPr marL="0" marR="0" algn="l" defTabSz="1219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67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6" y="1508125"/>
            <a:ext cx="10852151" cy="4749165"/>
          </a:xfrm>
          <a:prstGeom prst="rect">
            <a:avLst/>
          </a:prstGeom>
        </p:spPr>
        <p:txBody>
          <a:bodyPr vert="horz" lIns="135463" tIns="0" rIns="110064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t="75972"/>
          <a:stretch>
            <a:fillRect/>
          </a:stretch>
        </p:blipFill>
        <p:spPr>
          <a:xfrm rot="10800000" flipV="1">
            <a:off x="0" y="4838701"/>
            <a:ext cx="12192000" cy="201929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056"/>
          <a:stretch>
            <a:fillRect/>
          </a:stretch>
        </p:blipFill>
        <p:spPr>
          <a:xfrm>
            <a:off x="0" y="0"/>
            <a:ext cx="9144000" cy="11620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8643912" y="5248274"/>
            <a:ext cx="2424138" cy="1609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-178803"/>
            <a:ext cx="1817719" cy="138905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05" y="6009449"/>
            <a:ext cx="1217854" cy="8087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-738293" y="2284096"/>
            <a:ext cx="586740" cy="305435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-738293" y="2778761"/>
            <a:ext cx="586740" cy="305435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>
              <a:solidFill>
                <a:prstClr val="white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-738293" y="3290571"/>
            <a:ext cx="585893" cy="344805"/>
          </a:xfrm>
          <a:prstGeom prst="rect">
            <a:avLst/>
          </a:prstGeom>
          <a:solidFill>
            <a:srgbClr val="1184CF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algn="ctr">
              <a:lnSpc>
                <a:spcPct val="120000"/>
              </a:lnSpc>
              <a:buClr>
                <a:srgbClr val="4F81BD"/>
              </a:buClr>
              <a:buFont typeface="Wingdings" panose="05000000000000000000" charset="0"/>
              <a:buNone/>
            </a:pPr>
            <a:endParaRPr lang="zh-CN" altLang="en-US" sz="105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-738293" y="3767456"/>
            <a:ext cx="585893" cy="344805"/>
          </a:xfrm>
          <a:prstGeom prst="rect">
            <a:avLst/>
          </a:prstGeom>
          <a:solidFill>
            <a:srgbClr val="88DB29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algn="ctr">
              <a:lnSpc>
                <a:spcPct val="120000"/>
              </a:lnSpc>
              <a:buClr>
                <a:srgbClr val="4F81BD"/>
              </a:buClr>
              <a:buFont typeface="Wingdings" panose="05000000000000000000" charset="0"/>
              <a:buNone/>
            </a:pPr>
            <a:endParaRPr lang="zh-CN" altLang="en-US" sz="105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32919" y="6231238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dirty="0">
                <a:solidFill>
                  <a:prstClr val="black"/>
                </a:solidFill>
              </a:r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10058400" y="-178803"/>
            <a:ext cx="1817719" cy="138905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568905" y="6009449"/>
            <a:ext cx="1217854" cy="808704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30294" y="6231238"/>
            <a:ext cx="560419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>
                <a:solidFill>
                  <a:prstClr val="black"/>
                </a:solidFill>
              </a:r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2667000" y="4387915"/>
            <a:ext cx="6857999" cy="16158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8D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第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8D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n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8D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组 　FDE 政企 AI 落地实战训练营</a:t>
            </a:r>
          </a:p>
          <a:p>
            <a:pPr marL="0" marR="0" lvl="0" indent="0" algn="ctr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8D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汇报人：Echo / Delta　组员：（组员姓名）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88D0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8D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2026 年 9 月</a:t>
            </a:r>
          </a:p>
          <a:p>
            <a:pPr marL="0" marR="0" lvl="0" indent="0" algn="ctr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 UI"/>
              </a:rPr>
              <a:t>本页为格式范例，项目信息均为虚构教学案例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88D0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-1" y="2213087"/>
            <a:ext cx="12191999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88D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西岭市民服务平台+AI+智能化项目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7600" y="3366000"/>
            <a:ext cx="6858000" cy="54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184CF"/>
                </a:solidFill>
                <a:latin typeface="微软雅黑"/>
                <a:ea typeface="微软雅黑"/>
                <a:cs typeface="微软雅黑"/>
              </a:rPr>
              <a:t>复  盘  汇  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47600" y="3978000"/>
            <a:ext cx="8298000" cy="288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—— 用 FDE 方法回看一次交付（格式范例）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76872" y="119911"/>
            <a:ext cx="9540000" cy="697812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zh-CN"/>
            </a:defPPr>
            <a:lvl1pPr>
              <a:spcBef>
                <a:spcPct val="0"/>
              </a:spcBef>
              <a:buNone/>
              <a:defRPr sz="2800" b="1" kern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88D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结论先行：做了什么、解决什么、结论是什么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378000" y="827999"/>
            <a:ext cx="8460000" cy="28800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56000" y="827999"/>
            <a:ext cx="1080000" cy="28800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0" y="6287361"/>
            <a:ext cx="6336000" cy="169277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FDE </a:t>
            </a:r>
            <a:r>
              <a:rPr sz="1100" b="0" dirty="0" err="1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政企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1100" b="0" dirty="0" err="1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落地实战训练营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lang="zh-CN" altLang="en-US"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第 </a:t>
            </a:r>
            <a:r>
              <a:rPr lang="en-US"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n 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组　|　第 2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378000" y="1044000"/>
            <a:ext cx="11358000" cy="900000"/>
          </a:xfrm>
          <a:prstGeom prst="rect">
            <a:avLst/>
          </a:prstGeom>
          <a:solidFill>
            <a:srgbClr val="F2F8FD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78000" y="1044000"/>
            <a:ext cx="1944000" cy="900000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95999"/>
            <a:ext cx="1764000" cy="432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做了什么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8000" y="1206000"/>
            <a:ext cx="9198000" cy="612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为市民服务平台交付三项 AI 能力：诉求分类、政策问答、工单分流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000" y="2015999"/>
            <a:ext cx="11358000" cy="9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8000" y="2015999"/>
            <a:ext cx="1944000" cy="900000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000" y="2268000"/>
            <a:ext cx="1764000" cy="432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解决了什么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8000" y="2178000"/>
            <a:ext cx="9198000" cy="612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坐席错分返工下降、政策答复可溯源（不再“答错背锅”）、简单件不再占用人工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8000" y="2988000"/>
            <a:ext cx="11358000" cy="900000"/>
          </a:xfrm>
          <a:prstGeom prst="rect">
            <a:avLst/>
          </a:prstGeom>
          <a:solidFill>
            <a:srgbClr val="F2F8FD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8000" y="2988000"/>
            <a:ext cx="1944000" cy="900000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8000" y="3240000"/>
            <a:ext cx="1764000" cy="432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我们的结论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8000" y="3150000"/>
            <a:ext cx="9198000" cy="612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Conditional Go（有条件推进）——方向成立，但须先完成本地化部署与人工接管责任落实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000" y="4031999"/>
            <a:ext cx="11358000" cy="1800000"/>
          </a:xfrm>
          <a:prstGeom prst="rect">
            <a:avLst/>
          </a:prstGeom>
          <a:solidFill>
            <a:srgbClr val="F2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78000" y="4031999"/>
            <a:ext cx="36000" cy="180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000" y="4158000"/>
            <a:ext cx="10926000" cy="1584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为什么是“有条件推进”，而不是“直接上”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① 现有证据只到演示级：真实诉求分布下的准确率、政策覆盖范围均未验证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② 生产条件未落实：本地化部署未做、客户侧人工接管岗位未明确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③ 达成先行条件后，建议转为 Go（见第 7 页）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18800"/>
            <a:ext cx="9540000" cy="6984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088D0"/>
                </a:solidFill>
                <a:latin typeface="微软雅黑"/>
                <a:ea typeface="微软雅黑"/>
                <a:cs typeface="微软雅黑"/>
              </a:rPr>
              <a:t>真实问题：客户要的 ≠ 真正的业务问题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378000" y="827999"/>
            <a:ext cx="8460000" cy="28800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56000" y="827999"/>
            <a:ext cx="1080000" cy="28800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0" y="6287361"/>
            <a:ext cx="6336000" cy="169277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FDE </a:t>
            </a:r>
            <a:r>
              <a:rPr sz="1100" b="0" dirty="0" err="1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政企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1100" b="0" dirty="0" err="1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落地实战训练营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lang="zh-CN" altLang="en-US"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第 </a:t>
            </a:r>
            <a:r>
              <a:rPr lang="en-US"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n 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组　|　</a:t>
            </a:r>
            <a:r>
              <a:rPr lang="zh-CN" altLang="en-US"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第 </a:t>
            </a:r>
            <a:r>
              <a:rPr lang="en-US"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3 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378000" y="1044000"/>
            <a:ext cx="5499000" cy="2664000"/>
          </a:xfrm>
          <a:prstGeom prst="rect">
            <a:avLst/>
          </a:prstGeom>
          <a:solidFill>
            <a:srgbClr val="F2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78000" y="1044000"/>
            <a:ext cx="5499000" cy="288000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000" y="1080000"/>
            <a:ext cx="5211000" cy="234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客户的表面需求（原话）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000" y="1422000"/>
            <a:ext cx="5139000" cy="2196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“我们这个平台每天上万个诉求，坐席分派不过来还老分错；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市民问政策坐席也答不准；简单问题和复杂问题混着办效率低。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你们能不能用 AI 把这一整套都智能化了？”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—— 平台中心 · 陈主任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7000" y="1044000"/>
            <a:ext cx="5499000" cy="2664000"/>
          </a:xfrm>
          <a:prstGeom prst="rect">
            <a:avLst/>
          </a:prstGeom>
          <a:solidFill>
            <a:srgbClr val="F2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7000" y="1044000"/>
            <a:ext cx="5499000" cy="288000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0999" y="1080000"/>
            <a:ext cx="5211000" cy="234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我们重新识别的真实问题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7000" y="1422000"/>
            <a:ext cx="5139000" cy="2196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不是“上 AI”，而是三个可量化的业务问题：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① 分派不准 → 工单空转、市民重复投诉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② 政策答错 → 坐席与平台承担追责风险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③ 简单件占人力 → 复杂件得不到足够处理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8000" y="3851999"/>
            <a:ext cx="11358000" cy="19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8000" y="3851999"/>
            <a:ext cx="36000" cy="1980000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000" y="3978000"/>
            <a:ext cx="10926000" cy="1764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复盘发现（当时做得不够的地方）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方向找对了：把“整套智能化”拆成三个可施工的子场景，是正确的一步。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但当时把三者当成三个并列 demo 交付，忽略了它们的业务闭环关系——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C0504D"/>
                </a:solidFill>
                <a:latin typeface="微软雅黑"/>
                <a:ea typeface="微软雅黑"/>
                <a:cs typeface="微软雅黑"/>
              </a:rPr>
              <a:t>分类的结果本应驱动分流，政策证据本应支撑答复；三者分头做，客户拿到的仍是三件工具，而不是一条流水线。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18800"/>
            <a:ext cx="9540000" cy="6984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088D0"/>
                </a:solidFill>
                <a:latin typeface="微软雅黑"/>
                <a:ea typeface="微软雅黑"/>
                <a:cs typeface="微软雅黑"/>
              </a:rPr>
              <a:t>FDE 尺子复盘：八个环节，我们缺在哪一环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378000" y="827999"/>
            <a:ext cx="8460000" cy="28800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56000" y="827999"/>
            <a:ext cx="1080000" cy="28800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0" y="6287361"/>
            <a:ext cx="6336000" cy="169277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FDE </a:t>
            </a:r>
            <a:r>
              <a:rPr sz="1100" b="0" dirty="0" err="1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政企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1100" b="0" dirty="0" err="1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落地实战训练营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lang="zh-CN" altLang="en-US"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第 </a:t>
            </a:r>
            <a:r>
              <a:rPr lang="en-US"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n 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组　|　第 4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378000" y="1044000"/>
            <a:ext cx="1328400" cy="810000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4000" y="1098000"/>
            <a:ext cx="1256400" cy="27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office-hours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000" y="1386000"/>
            <a:ext cx="1256400" cy="216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确认该做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000" y="1602000"/>
            <a:ext cx="1256400" cy="216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● 做了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6400" y="1278000"/>
            <a:ext cx="99000" cy="288000"/>
          </a:xfrm>
          <a:prstGeom prst="rect">
            <a:avLst/>
          </a:prstGeom>
          <a:noFill/>
        </p:spPr>
        <p:txBody>
          <a:bodyPr wrap="none" lIns="36000" tIns="0" rIns="3600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5400" y="1044000"/>
            <a:ext cx="1328400" cy="810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41399" y="1098000"/>
            <a:ext cx="1256400" cy="27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5A3A05"/>
                </a:solidFill>
                <a:latin typeface="微软雅黑"/>
                <a:ea typeface="微软雅黑"/>
                <a:cs typeface="微软雅黑"/>
              </a:rPr>
              <a:t>spec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1399" y="1386000"/>
            <a:ext cx="1256400" cy="216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A3A05"/>
                </a:solidFill>
                <a:latin typeface="微软雅黑"/>
                <a:ea typeface="微软雅黑"/>
                <a:cs typeface="微软雅黑"/>
              </a:rPr>
              <a:t>死磕边界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1399" y="1602000"/>
            <a:ext cx="1256400" cy="216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A3A05"/>
                </a:solidFill>
                <a:latin typeface="微软雅黑"/>
                <a:ea typeface="微软雅黑"/>
                <a:cs typeface="微软雅黑"/>
              </a:rPr>
              <a:t>● 没做透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3800" y="1278000"/>
            <a:ext cx="99000" cy="288000"/>
          </a:xfrm>
          <a:prstGeom prst="rect">
            <a:avLst/>
          </a:prstGeom>
          <a:noFill/>
        </p:spPr>
        <p:txBody>
          <a:bodyPr wrap="none" lIns="36000" tIns="0" rIns="3600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2800" y="1044000"/>
            <a:ext cx="1328400" cy="810000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68800" y="1098000"/>
            <a:ext cx="1256400" cy="27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autoplan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8800" y="1386000"/>
            <a:ext cx="1256400" cy="216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决策拍板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8800" y="1602000"/>
            <a:ext cx="1256400" cy="216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● 做了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1200" y="1278000"/>
            <a:ext cx="99000" cy="288000"/>
          </a:xfrm>
          <a:prstGeom prst="rect">
            <a:avLst/>
          </a:prstGeom>
          <a:noFill/>
        </p:spPr>
        <p:txBody>
          <a:bodyPr wrap="none" lIns="36000" tIns="0" rIns="3600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0200" y="1044000"/>
            <a:ext cx="1328400" cy="810000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96200" y="1098000"/>
            <a:ext cx="1256400" cy="27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6200" y="1386000"/>
            <a:ext cx="1256400" cy="216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做出来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6200" y="1602000"/>
            <a:ext cx="1256400" cy="216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● 做了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8600" y="1278000"/>
            <a:ext cx="99000" cy="288000"/>
          </a:xfrm>
          <a:prstGeom prst="rect">
            <a:avLst/>
          </a:prstGeom>
          <a:noFill/>
        </p:spPr>
        <p:txBody>
          <a:bodyPr wrap="none" lIns="36000" tIns="0" rIns="3600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7600" y="1044000"/>
            <a:ext cx="1328400" cy="810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3600" y="1098000"/>
            <a:ext cx="1256400" cy="27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5A3A05"/>
                </a:solidFill>
                <a:latin typeface="微软雅黑"/>
                <a:ea typeface="微软雅黑"/>
                <a:cs typeface="微软雅黑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3600" y="1386000"/>
            <a:ext cx="1256400" cy="216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A3A05"/>
                </a:solidFill>
                <a:latin typeface="微软雅黑"/>
                <a:ea typeface="微软雅黑"/>
                <a:cs typeface="微软雅黑"/>
              </a:rPr>
              <a:t>找隐患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3600" y="1602000"/>
            <a:ext cx="1256400" cy="216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A3A05"/>
                </a:solidFill>
                <a:latin typeface="微软雅黑"/>
                <a:ea typeface="微软雅黑"/>
                <a:cs typeface="微软雅黑"/>
              </a:rPr>
              <a:t>● 没做透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6000" y="1278000"/>
            <a:ext cx="99000" cy="288000"/>
          </a:xfrm>
          <a:prstGeom prst="rect">
            <a:avLst/>
          </a:prstGeom>
          <a:noFill/>
        </p:spPr>
        <p:txBody>
          <a:bodyPr wrap="none" lIns="36000" tIns="0" rIns="3600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15000" y="1044000"/>
            <a:ext cx="1328400" cy="810000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51000" y="1098000"/>
            <a:ext cx="1256400" cy="27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51000" y="1386000"/>
            <a:ext cx="1256400" cy="216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测体验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51000" y="1602000"/>
            <a:ext cx="1256400" cy="216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● 做了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43400" y="1278000"/>
            <a:ext cx="99000" cy="288000"/>
          </a:xfrm>
          <a:prstGeom prst="rect">
            <a:avLst/>
          </a:prstGeom>
          <a:noFill/>
        </p:spPr>
        <p:txBody>
          <a:bodyPr wrap="none" lIns="36000" tIns="0" rIns="3600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42400" y="1044000"/>
            <a:ext cx="1328400" cy="810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78400" y="1098000"/>
            <a:ext cx="1256400" cy="27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5A3A05"/>
                </a:solidFill>
                <a:latin typeface="微软雅黑"/>
                <a:ea typeface="微软雅黑"/>
                <a:cs typeface="微软雅黑"/>
              </a:rPr>
              <a:t>ship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8400" y="1386000"/>
            <a:ext cx="1256400" cy="216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A3A05"/>
                </a:solidFill>
                <a:latin typeface="微软雅黑"/>
                <a:ea typeface="微软雅黑"/>
                <a:cs typeface="微软雅黑"/>
              </a:rPr>
              <a:t>收尾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8400" y="1602000"/>
            <a:ext cx="1256400" cy="216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A3A05"/>
                </a:solidFill>
                <a:latin typeface="微软雅黑"/>
                <a:ea typeface="微软雅黑"/>
                <a:cs typeface="微软雅黑"/>
              </a:rPr>
              <a:t>● 没做透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70800" y="1278000"/>
            <a:ext cx="99000" cy="288000"/>
          </a:xfrm>
          <a:prstGeom prst="rect">
            <a:avLst/>
          </a:prstGeom>
          <a:noFill/>
        </p:spPr>
        <p:txBody>
          <a:bodyPr wrap="none" lIns="36000" tIns="0" rIns="3600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69800" y="1044000"/>
            <a:ext cx="1328400" cy="810000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405800" y="1098000"/>
            <a:ext cx="1256400" cy="27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retro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05800" y="1386000"/>
            <a:ext cx="1256400" cy="216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复盘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05800" y="1602000"/>
            <a:ext cx="1256400" cy="216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● 做了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8000" y="1944000"/>
            <a:ext cx="151200" cy="151200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8000" y="1951200"/>
            <a:ext cx="1440000" cy="180000"/>
          </a:xfrm>
          <a:prstGeom prst="rect">
            <a:avLst/>
          </a:prstGeom>
          <a:noFill/>
        </p:spPr>
        <p:txBody>
          <a:bodyPr wrap="non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做了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02000" y="1944000"/>
            <a:ext cx="151200" cy="151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782000" y="1951200"/>
            <a:ext cx="2160000" cy="180000"/>
          </a:xfrm>
          <a:prstGeom prst="rect">
            <a:avLst/>
          </a:prstGeom>
          <a:noFill/>
        </p:spPr>
        <p:txBody>
          <a:bodyPr wrap="non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做了没做透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8000" y="2250000"/>
            <a:ext cx="11358000" cy="1314000"/>
          </a:xfrm>
          <a:prstGeom prst="rect">
            <a:avLst/>
          </a:prstGeom>
          <a:solidFill>
            <a:srgbClr val="F2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78000" y="2250000"/>
            <a:ext cx="36000" cy="1314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000" y="2358000"/>
            <a:ext cx="10926000" cy="117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三个“没做透”的环节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spec：写了验收口径，但“数据不出域”只作为约束记录，没有上升为硬 Gate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review：查了代码隐患，没有审“生产接管责任”——谁在客户侧接、怎么接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ship：交付材料齐全，但没有客户侧运维交接物，客户无法独立运营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8000" y="3636000"/>
            <a:ext cx="11358000" cy="221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78000" y="3636000"/>
            <a:ext cx="36000" cy="2214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94000" y="3744000"/>
            <a:ext cx="10926000" cy="2015999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C0504D"/>
                </a:solidFill>
                <a:latin typeface="微软雅黑"/>
                <a:ea typeface="微软雅黑"/>
                <a:cs typeface="微软雅黑"/>
              </a:rPr>
              <a:t>最致命的缺口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spec 阶段没有把“生产化条件”写成硬 Gate。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后果：三个 demo 都停在演示级。验收达标 = 演示可行，但客户无法接管、无法独立运营——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这正是 FDE 与“外包交付”的分水岭：交付物不是“能演示的系统”，而是“客户能接住的能力”。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如果重来一次：在 spec 就写死——本地化部署完成、人工接管岗位到人、真实脱敏数据复测通过，三项齐备才允许进入 build。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18800"/>
            <a:ext cx="9540000" cy="6984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088D0"/>
                </a:solidFill>
                <a:latin typeface="微软雅黑"/>
                <a:ea typeface="微软雅黑"/>
                <a:cs typeface="微软雅黑"/>
              </a:rPr>
              <a:t>证据与假设：哪些已证实，哪些仍是假设</a:t>
            </a:r>
          </a:p>
        </p:txBody>
      </p:sp>
      <p:sp>
        <p:nvSpPr>
          <p:cNvPr id="3" name="Rectangle 2"/>
          <p:cNvSpPr/>
          <p:nvPr/>
        </p:nvSpPr>
        <p:spPr>
          <a:xfrm>
            <a:off x="378000" y="827999"/>
            <a:ext cx="8460000" cy="28800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56000" y="827999"/>
            <a:ext cx="1080000" cy="28800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0" y="6287361"/>
            <a:ext cx="6336000" cy="169277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FDE </a:t>
            </a:r>
            <a:r>
              <a:rPr sz="1100" b="0" dirty="0" err="1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政企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1100" b="0" dirty="0" err="1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落地实战训练营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lang="zh-CN" altLang="en-US"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第 </a:t>
            </a:r>
            <a:r>
              <a:rPr lang="en-US"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n 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组　|　第 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378000" y="1044000"/>
            <a:ext cx="5499000" cy="4284000"/>
          </a:xfrm>
          <a:prstGeom prst="rect">
            <a:avLst/>
          </a:prstGeom>
          <a:solidFill>
            <a:srgbClr val="F2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78000" y="1044000"/>
            <a:ext cx="5499000" cy="288000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000" y="1080000"/>
            <a:ext cx="5211000" cy="234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已有证据（可对外）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000" y="1422000"/>
            <a:ext cx="827999" cy="215444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88D0"/>
                </a:solidFill>
                <a:latin typeface="微软雅黑"/>
                <a:ea typeface="微软雅黑"/>
                <a:cs typeface="微软雅黑"/>
              </a:rPr>
              <a:t>已实测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8000" y="1400400"/>
            <a:ext cx="4347000" cy="215444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25 条测试样本上分类准确率达标（演示级）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000" y="2106000"/>
            <a:ext cx="827999" cy="215444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88D0"/>
                </a:solidFill>
                <a:latin typeface="微软雅黑"/>
                <a:ea typeface="微软雅黑"/>
                <a:cs typeface="微软雅黑"/>
              </a:rPr>
              <a:t>已实测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8000" y="2084400"/>
            <a:ext cx="4347000" cy="430887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政策问答双指标：答案准确率 + 来源可追溯率达标（演示级）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000" y="2790000"/>
            <a:ext cx="827999" cy="215444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88D0"/>
                </a:solidFill>
                <a:latin typeface="微软雅黑"/>
                <a:ea typeface="微软雅黑"/>
                <a:cs typeface="微软雅黑"/>
              </a:rPr>
              <a:t>已实测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8000" y="2768400"/>
            <a:ext cx="4347000" cy="215444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工单分流三路走通，敏感件零漏判（6 份样本）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000" y="3473999"/>
            <a:ext cx="827999" cy="215444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184CF"/>
                </a:solidFill>
                <a:latin typeface="微软雅黑"/>
                <a:ea typeface="微软雅黑"/>
                <a:cs typeface="微软雅黑"/>
              </a:rPr>
              <a:t>客户确认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8000" y="3452399"/>
            <a:ext cx="4347000" cy="215444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五类诉求类别清单由客户方确认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000" y="4158000"/>
            <a:ext cx="827999" cy="215444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184CF"/>
                </a:solidFill>
                <a:latin typeface="微软雅黑"/>
                <a:ea typeface="微软雅黑"/>
                <a:cs typeface="微软雅黑"/>
              </a:rPr>
              <a:t>客户确认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8000" y="4136400"/>
            <a:ext cx="4347000" cy="215444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dirty="0" err="1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部门职责库由信息中心提供</a:t>
            </a:r>
            <a:endParaRPr sz="1400" b="0" dirty="0">
              <a:solidFill>
                <a:srgbClr val="212B3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37000" y="1044000"/>
            <a:ext cx="5499000" cy="4284000"/>
          </a:xfrm>
          <a:prstGeom prst="rect">
            <a:avLst/>
          </a:prstGeom>
          <a:solidFill>
            <a:srgbClr val="F2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7000" y="1044000"/>
            <a:ext cx="5499000" cy="288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0999" y="1080000"/>
            <a:ext cx="5211000" cy="234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仍是假设（不得说成已验证</a:t>
            </a: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0999" y="1422000"/>
            <a:ext cx="1044000" cy="215444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504D"/>
                </a:solidFill>
                <a:latin typeface="微软雅黑"/>
                <a:ea typeface="微软雅黑"/>
                <a:cs typeface="微软雅黑"/>
              </a:rPr>
              <a:t>当前假设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000" y="1400400"/>
            <a:ext cx="4131000" cy="215444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1.2 万件/日真实诉求分布下，准确率仍达标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999" y="2106000"/>
            <a:ext cx="1044000" cy="215444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504D"/>
                </a:solidFill>
                <a:latin typeface="微软雅黑"/>
                <a:ea typeface="微软雅黑"/>
                <a:cs typeface="微软雅黑"/>
              </a:rPr>
              <a:t>当前假设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000" y="2084400"/>
            <a:ext cx="4131000" cy="215444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政策库扩至全量后，来源可追溯率不下降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0999" y="2790000"/>
            <a:ext cx="1044000" cy="215444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504D"/>
                </a:solidFill>
                <a:latin typeface="微软雅黑"/>
                <a:ea typeface="微软雅黑"/>
                <a:cs typeface="微软雅黑"/>
              </a:rPr>
              <a:t>待获取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000" y="2768400"/>
            <a:ext cx="4131000" cy="215444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本地化部署的模型选型、成本与工期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0999" y="3473999"/>
            <a:ext cx="1044000" cy="215444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504D"/>
                </a:solidFill>
                <a:latin typeface="微软雅黑"/>
                <a:ea typeface="微软雅黑"/>
                <a:cs typeface="微软雅黑"/>
              </a:rPr>
              <a:t>待获取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000" y="3452399"/>
            <a:ext cx="4131000" cy="215444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坐席实际接受度与使用行为数据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0999" y="4158000"/>
            <a:ext cx="1044000" cy="215444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504D"/>
                </a:solidFill>
                <a:latin typeface="微软雅黑"/>
                <a:ea typeface="微软雅黑"/>
                <a:cs typeface="微软雅黑"/>
              </a:rPr>
              <a:t>待获取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000" y="4136400"/>
            <a:ext cx="4131000" cy="215444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客户侧人工接管的岗位与流程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8000" y="5454000"/>
            <a:ext cx="11358000" cy="37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8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000" y="5490000"/>
            <a:ext cx="10926000" cy="306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一句话结论：现有证据支持“方向成立”，但不支持“生产可用”；把假设当结论，是复盘最容易翻车的地方。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18800"/>
            <a:ext cx="9540000" cy="6984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088D0"/>
                </a:solidFill>
                <a:latin typeface="微软雅黑"/>
                <a:ea typeface="微软雅黑"/>
                <a:cs typeface="微软雅黑"/>
              </a:rPr>
              <a:t>能力回注：这个项目里，什么能沉淀成平台能力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378000" y="827999"/>
            <a:ext cx="8460000" cy="28800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56000" y="827999"/>
            <a:ext cx="1080000" cy="28800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0" y="6287361"/>
            <a:ext cx="6336000" cy="169277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FDE </a:t>
            </a:r>
            <a:r>
              <a:rPr sz="1100" b="0" dirty="0" err="1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政企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1100" b="0" dirty="0" err="1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落地实战训练营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lang="zh-CN" altLang="en-US"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第 </a:t>
            </a:r>
            <a:r>
              <a:rPr lang="en-US"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n 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组　|　第 6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78000" y="1044000"/>
          <a:ext cx="11358000" cy="254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48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客户特定实现（不回注）</a:t>
                      </a:r>
                    </a:p>
                  </a:txBody>
                  <a:tcPr marL="90000" marR="90000" marT="21600" marB="21600" anchor="ctr">
                    <a:solidFill>
                      <a:srgbClr val="0088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抽象后的通用能力</a:t>
                      </a:r>
                    </a:p>
                  </a:txBody>
                  <a:tcPr marL="90000" marR="90000" marT="21600" marB="21600" anchor="ctr">
                    <a:solidFill>
                      <a:srgbClr val="0088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层次</a:t>
                      </a:r>
                    </a:p>
                  </a:txBody>
                  <a:tcPr marL="90000" marR="90000" marT="21600" marB="21600" anchor="ctr">
                    <a:solidFill>
                      <a:srgbClr val="0088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可复用场景</a:t>
                      </a:r>
                    </a:p>
                  </a:txBody>
                  <a:tcPr marL="90000" marR="90000" marT="21600" marB="21600" anchor="ctr">
                    <a:solidFill>
                      <a:srgbClr val="0088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497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市民诉求五分类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类别可配置的文本分类器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银行工单 / 医院投诉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497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西岭 5 份政策问答</a:t>
                      </a:r>
                    </a:p>
                  </a:txBody>
                  <a:tcPr marL="90000" marR="90000" marT="21600" marB="21600"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带来源的检索问答契约</a:t>
                      </a:r>
                    </a:p>
                  </a:txBody>
                  <a:tcPr marL="90000" marR="90000" marT="21600" marB="21600"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</a:t>
                      </a:r>
                    </a:p>
                  </a:txBody>
                  <a:tcPr marL="90000" marR="90000" marT="21600" marB="21600"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合规问答 / 制度查询</a:t>
                      </a:r>
                    </a:p>
                  </a:txBody>
                  <a:tcPr marL="90000" marR="90000" marT="21600" marB="21600"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497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工单三档分流规则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可配置固定路由工作流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机制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各类审批分流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497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敏感件转人工规则</a:t>
                      </a:r>
                    </a:p>
                  </a:txBody>
                  <a:tcPr marL="90000" marR="90000" marT="21600" marB="21600"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高风险人工兜底机制</a:t>
                      </a:r>
                    </a:p>
                  </a:txBody>
                  <a:tcPr marL="90000" marR="90000" marT="21600" marB="21600"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机制</a:t>
                      </a:r>
                    </a:p>
                  </a:txBody>
                  <a:tcPr marL="90000" marR="90000" marT="21600" marB="21600"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风控审批 / 安全事件</a:t>
                      </a:r>
                    </a:p>
                  </a:txBody>
                  <a:tcPr marL="90000" marR="90000" marT="21600" marB="21600"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F497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诉求—政策—部门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政务业务语义模型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语义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其他城市政务热线</a:t>
                      </a:r>
                    </a:p>
                  </a:txBody>
                  <a:tcPr marL="90000" marR="90000" marT="21600" marB="2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78000" y="3744000"/>
            <a:ext cx="11358000" cy="20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8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78000" y="3744000"/>
            <a:ext cx="36000" cy="2088000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000" y="3870000"/>
            <a:ext cx="10926000" cy="1872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回注优先级建议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优先铺“人工兜底机制”与“可配置分类器”——前者三个场景共用、换个客户零改动；后者复用面最广、成本最低。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业务语义模型价值最高但周期最长，建议作为下一阶段平台专项。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判断标准：换个客户，这东西要不要全改？要改 = 内容（不回注），不用改 = 机制（回注）。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18800"/>
            <a:ext cx="9540000" cy="6984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088D0"/>
                </a:solidFill>
                <a:latin typeface="微软雅黑"/>
                <a:ea typeface="微软雅黑"/>
                <a:cs typeface="微软雅黑"/>
              </a:rPr>
              <a:t>下一步决策：有条件推进（Conditional Go）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78000" y="827999"/>
            <a:ext cx="8460000" cy="28800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56000" y="827999"/>
            <a:ext cx="1080000" cy="28800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0" y="6287361"/>
            <a:ext cx="6336000" cy="169277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FDE </a:t>
            </a:r>
            <a:r>
              <a:rPr sz="1100" b="0" dirty="0" err="1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政企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1100" b="0" dirty="0" err="1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落地实战训练营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lang="zh-CN" altLang="en-US"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第 </a:t>
            </a:r>
            <a:r>
              <a:rPr lang="en-US"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n 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组　|　第 7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378000" y="1044000"/>
            <a:ext cx="11358000" cy="468000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000" y="1080000"/>
            <a:ext cx="10926000" cy="396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　策：Conditional Go —— 三个场景方向成立，可推进；但须先满足下列三项条件，方可转为 Go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8000" y="1620000"/>
          <a:ext cx="11358000" cy="291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要素</a:t>
                      </a:r>
                    </a:p>
                  </a:txBody>
                  <a:tcPr marL="100800" marR="100800" marT="21600" marB="21600" anchor="ctr">
                    <a:solidFill>
                      <a:srgbClr val="008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100800" marR="100800" marT="21600" marB="21600" anchor="ctr">
                    <a:solidFill>
                      <a:srgbClr val="0088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497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依据证据</a:t>
                      </a:r>
                    </a:p>
                  </a:txBody>
                  <a:tcPr marL="100800" marR="100800" marT="21600" marB="21600"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演示级验收达标（分类 / RAG 双指标 / 路由零漏判）；业务价值方向经客户确认</a:t>
                      </a:r>
                    </a:p>
                  </a:txBody>
                  <a:tcPr marL="100800" marR="100800" marT="21600" marB="2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497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先行条件</a:t>
                      </a:r>
                    </a:p>
                  </a:txBody>
                  <a:tcPr marL="100800" marR="100800" marT="21600" marB="21600"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完成本地化部署验证　② 明确人工接管岗位到人　③ 用真实脱敏数据复测</a:t>
                      </a:r>
                    </a:p>
                  </a:txBody>
                  <a:tcPr marL="100800" marR="100800" marT="21600" marB="2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497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剩余风险</a:t>
                      </a:r>
                    </a:p>
                  </a:txBody>
                  <a:tcPr marL="100800" marR="100800" marT="21600" marB="21600"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真实分布下准确率未知；客户侧运维能力未确认；数据出域方案待信息中心确认</a:t>
                      </a:r>
                    </a:p>
                  </a:txBody>
                  <a:tcPr marL="100800" marR="100800" marT="21600" marB="2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497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补齐责任人</a:t>
                      </a:r>
                    </a:p>
                  </a:txBody>
                  <a:tcPr marL="100800" marR="100800" marT="21600" marB="21600"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信息中心 李工（技术接管）/ 平台中心 陈主任（业务验收）/ 承建方（部署实施）</a:t>
                      </a:r>
                    </a:p>
                  </a:txBody>
                  <a:tcPr marL="100800" marR="100800" marT="21600" marB="2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497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下一 Gate</a:t>
                      </a:r>
                    </a:p>
                  </a:txBody>
                  <a:tcPr marL="100800" marR="100800" marT="21600" marB="21600"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12B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本地化部署 + 真实数据复测通过后，组织一次评审，转 Go 或调整范围</a:t>
                      </a:r>
                    </a:p>
                  </a:txBody>
                  <a:tcPr marL="100800" marR="100800" marT="21600" marB="2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78000" y="4680000"/>
            <a:ext cx="11358000" cy="1152000"/>
          </a:xfrm>
          <a:prstGeom prst="rect">
            <a:avLst/>
          </a:prstGeom>
          <a:solidFill>
            <a:srgbClr val="F2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78000" y="4680000"/>
            <a:ext cx="36000" cy="115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000" y="4788000"/>
            <a:ext cx="10926000" cy="972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0504D"/>
                </a:solidFill>
                <a:latin typeface="微软雅黑"/>
                <a:ea typeface="微软雅黑"/>
                <a:cs typeface="微软雅黑"/>
              </a:rPr>
              <a:t>什么证据出现会让我们改判？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→ 真实数据复测准确率显著低于演示水平，或本地化部署成本超出预算，则改判为 Continue Pilot 或 No-Go。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18800"/>
            <a:ext cx="9540000" cy="6984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088D0"/>
                </a:solidFill>
                <a:latin typeface="微软雅黑"/>
                <a:ea typeface="微软雅黑"/>
                <a:cs typeface="微软雅黑"/>
              </a:rPr>
              <a:t>需要决策层支持的事项</a:t>
            </a:r>
          </a:p>
        </p:txBody>
      </p:sp>
      <p:sp>
        <p:nvSpPr>
          <p:cNvPr id="3" name="Rectangle 2"/>
          <p:cNvSpPr/>
          <p:nvPr/>
        </p:nvSpPr>
        <p:spPr>
          <a:xfrm>
            <a:off x="378000" y="827999"/>
            <a:ext cx="8460000" cy="28800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56000" y="827999"/>
            <a:ext cx="1080000" cy="28800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0" y="6287361"/>
            <a:ext cx="6336000" cy="169277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FDE </a:t>
            </a:r>
            <a:r>
              <a:rPr sz="1100" b="0" dirty="0" err="1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政企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1100" b="0" dirty="0" err="1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落地实战训练营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lang="zh-CN" altLang="en-US"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第 </a:t>
            </a:r>
            <a:r>
              <a:rPr lang="en-US"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n </a:t>
            </a:r>
            <a:r>
              <a:rPr sz="1100" b="0" dirty="0">
                <a:solidFill>
                  <a:srgbClr val="4F81BD"/>
                </a:solidFill>
                <a:latin typeface="微软雅黑"/>
                <a:ea typeface="微软雅黑"/>
                <a:cs typeface="微软雅黑"/>
              </a:rPr>
              <a:t>组　|　第 8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378000" y="1044000"/>
            <a:ext cx="11358000" cy="503999"/>
          </a:xfrm>
          <a:prstGeom prst="rect">
            <a:avLst/>
          </a:prstGeom>
          <a:solidFill>
            <a:srgbClr val="008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000" y="1080000"/>
            <a:ext cx="10926000" cy="432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请求决策层批准以下三项，作为转入下一阶段的前置条件</a:t>
            </a:r>
            <a:endParaRPr sz="15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8000" y="1655999"/>
            <a:ext cx="11358000" cy="972000"/>
          </a:xfrm>
          <a:prstGeom prst="rect">
            <a:avLst/>
          </a:prstGeom>
          <a:solidFill>
            <a:srgbClr val="F2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78000" y="1655999"/>
            <a:ext cx="576000" cy="972000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8000" y="1943999"/>
            <a:ext cx="576000" cy="396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1800000"/>
            <a:ext cx="10530000" cy="702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本地化部署资源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服务器与部署实施人力，用于验证数据不出域的硬约束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000" y="2718000"/>
            <a:ext cx="11358000" cy="972000"/>
          </a:xfrm>
          <a:prstGeom prst="rect">
            <a:avLst/>
          </a:prstGeom>
          <a:solidFill>
            <a:srgbClr val="F2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78000" y="2718000"/>
            <a:ext cx="576000" cy="972000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8000" y="3006000"/>
            <a:ext cx="576000" cy="396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" y="2862000"/>
            <a:ext cx="10530000" cy="702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真实脱敏数据使用授权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经信息中心与市数据局批准，用于生产分布下的复测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8000" y="3780000"/>
            <a:ext cx="11358000" cy="972000"/>
          </a:xfrm>
          <a:prstGeom prst="rect">
            <a:avLst/>
          </a:prstGeom>
          <a:solidFill>
            <a:srgbClr val="F2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78000" y="3780000"/>
            <a:ext cx="576000" cy="972000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8000" y="4068000"/>
            <a:ext cx="576000" cy="396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3924000"/>
            <a:ext cx="10530000" cy="702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人工接管岗位落实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明确客户侧接管岗位与流程，确保敏感件有人接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000" y="4896000"/>
            <a:ext cx="11358000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8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000" y="4968000"/>
            <a:ext cx="10926000" cy="792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我们的承诺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在获得上述支持后 N 周内，提交本地化部署验证报告与真实数据复测结果；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12B36"/>
                </a:solidFill>
                <a:latin typeface="微软雅黑"/>
                <a:ea typeface="微软雅黑"/>
                <a:cs typeface="微软雅黑"/>
              </a:rPr>
              <a:t>所有结论仅覆盖取得的证据范围，不夸大交付成果。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65000"/>
          </a:schemeClr>
        </a:solidFill>
        <a:ln>
          <a:noFill/>
        </a:ln>
      </a:spPr>
      <a:bodyPr rtlCol="0" anchor="ctr"/>
      <a:lstStyle>
        <a:defPPr algn="ctr">
          <a:defRPr sz="1400" b="1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2400" b="1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885</Words>
  <Application>Microsoft Office PowerPoint</Application>
  <PresentationFormat>宽屏</PresentationFormat>
  <Paragraphs>175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Microsoft YaHei UI</vt:lpstr>
      <vt:lpstr>微软雅黑</vt:lpstr>
      <vt:lpstr>等线</vt:lpstr>
      <vt:lpstr>Arial</vt:lpstr>
      <vt:lpstr>Calibri</vt:lpstr>
      <vt:lpstr>Wingdings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 绿胤</dc:creator>
  <cp:lastModifiedBy>Abraham Cheng</cp:lastModifiedBy>
  <cp:revision>33</cp:revision>
  <dcterms:created xsi:type="dcterms:W3CDTF">2023-02-28T00:41:00Z</dcterms:created>
  <dcterms:modified xsi:type="dcterms:W3CDTF">2026-09-11T06:51:09Z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1B4FA596F0B94E36A9EEE19DC248EDCC_13</vt:lpwstr>
  </property>
</Properties>
</file>