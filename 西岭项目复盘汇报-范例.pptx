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【范例提示】封面只保留项目名（匿名化）、副标题、汇报单位/人/时间。不要目录页、不要项目背景介绍——7 分钟没这个时间。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【范例提示】结论必须放第 2 页，用全业务语言（禁用 RAG/Agent/准确率等技术词）。决策四选一：Go / Conditional Go / Continue Pilot / No-Go。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【范例提示】左栏客户原话（匿名化），右栏你重新识别的问题。当时找错方向也大方写——这是加分项。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【范例提示】本页是主角，给足时间。八环节横条 + 三色标注，底下写清“最致命缺口 + 后果 + 如果重来一次怎么做”。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【范例提示】左=已有证据（标状态），右=仍是假设。主动标注假设是加分；把假设说成实测，质询必被打穿。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【范例提示】每个候选答清：从哪识别 → 抽象成什么 → 哪一层（工具/机制/语义）→ 第二场景 → 谁维护。至少 1 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【范例提示】决策页必须有四要素：依据证据 / 剩余风险 / 补齐责任人 / 下一 Gate。并补一句“什么证据会改判”。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【范例提示】收尾只讲“要什么支持”，20 秒讲完。不要在此补内容、不要加致谢页。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2592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2592000"/>
            <a:ext cx="12192119" cy="43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4000" y="684000"/>
            <a:ext cx="10440000" cy="57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西岭市民服务平台 AI 智能化项目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04000"/>
            <a:ext cx="10440000" cy="432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E8C368"/>
                </a:solidFill>
                <a:latin typeface="微软雅黑"/>
                <a:ea typeface="微软雅黑"/>
                <a:cs typeface="微软雅黑"/>
              </a:rPr>
              <a:t>复 盘 汇 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1980000"/>
            <a:ext cx="10440000" cy="432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5D3E2"/>
                </a:solidFill>
                <a:latin typeface="微软雅黑"/>
                <a:ea typeface="微软雅黑"/>
                <a:cs typeface="微软雅黑"/>
              </a:rPr>
              <a:t>——用 FDE 方法回看一次交付（范例）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64000" y="3456000"/>
            <a:ext cx="5220000" cy="2015999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864000" y="3456000"/>
            <a:ext cx="32400" cy="2015999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80000" y="3636000"/>
            <a:ext cx="4860000" cy="1728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汇报单位：FDE 训练营 · 第 3 组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汇 报 人：Echo / Delta 各一名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汇报时间：2026 年 8 月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说明：本页为格式范例，项目信息均为虚构教学案例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3999" y="3816000"/>
            <a:ext cx="4680000" cy="144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汇报三句话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① 做了什么　② 解决了什么　③ 结论是什么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30000"/>
            <a:ext cx="12192119" cy="288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96000" y="108000"/>
            <a:ext cx="7920000" cy="432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 结论先行：做了什么、解决什么、结论是什么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151200"/>
            <a:ext cx="3528000" cy="360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C5D3E2"/>
                </a:solidFill>
                <a:latin typeface="微软雅黑"/>
                <a:ea typeface="微软雅黑"/>
                <a:cs typeface="微软雅黑"/>
              </a:rPr>
              <a:t>西岭市民服务平台 · 复盘汇报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6533999"/>
            <a:ext cx="11376000" cy="7200"/>
          </a:xfrm>
          <a:prstGeom prst="rect">
            <a:avLst/>
          </a:prstGeom>
          <a:solidFill>
            <a:srgbClr val="C8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96000" y="6588000"/>
            <a:ext cx="7920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FDE 政企 AI 落地实战训练营 · 第 3 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0000" y="6588000"/>
            <a:ext cx="1655999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— 2 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" y="1044000"/>
            <a:ext cx="11016000" cy="900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76000" y="1044000"/>
            <a:ext cx="1872000" cy="9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4000" y="1295999"/>
            <a:ext cx="1728000" cy="432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做了什么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2000" y="1206000"/>
            <a:ext cx="8856000" cy="612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为市民服务平台交付三项 AI 能力：诉求分类、政策问答、工单分流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00" y="1998000"/>
            <a:ext cx="11016000" cy="9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76000" y="1998000"/>
            <a:ext cx="1872000" cy="9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4000" y="2250000"/>
            <a:ext cx="1728000" cy="432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解决了什么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2000" y="2160000"/>
            <a:ext cx="8856000" cy="612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坐席错分返工下降、政策答复可溯源（不再“答错背锅”）、简单件不再占用人工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" y="2951999"/>
            <a:ext cx="11016000" cy="900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76000" y="2951999"/>
            <a:ext cx="1872000" cy="90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4000" y="3203999"/>
            <a:ext cx="1728000" cy="432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2C05"/>
                </a:solidFill>
                <a:latin typeface="微软雅黑"/>
                <a:ea typeface="微软雅黑"/>
                <a:cs typeface="微软雅黑"/>
              </a:rPr>
              <a:t>我们的结论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2000" y="3113999"/>
            <a:ext cx="8856000" cy="612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Conditional Go（有条件推进）——方向成立，但须先完成本地化部署与人工接管责任落实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00" y="4284000"/>
            <a:ext cx="11016000" cy="1764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76000" y="4284000"/>
            <a:ext cx="32400" cy="1764000"/>
          </a:xfrm>
          <a:prstGeom prst="rect">
            <a:avLst/>
          </a:prstGeom>
          <a:solidFill>
            <a:srgbClr val="A6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92000" y="4410000"/>
            <a:ext cx="10656000" cy="1548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为什么是“有条件推进”，而不是“直接上”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① 现有证据只到演示级：真实诉求分布下的准确率、政策覆盖范围均未验证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② 生产条件未落实：本地化部署未做、客户侧人工接管岗位未明确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③ 达成以下先行条件后，建议转为 Go（见第 7 页）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30000"/>
            <a:ext cx="12192119" cy="288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96000" y="108000"/>
            <a:ext cx="7920000" cy="432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 真实问题：客户要的 ≠ 真正的业务问题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151200"/>
            <a:ext cx="3528000" cy="360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C5D3E2"/>
                </a:solidFill>
                <a:latin typeface="微软雅黑"/>
                <a:ea typeface="微软雅黑"/>
                <a:cs typeface="微软雅黑"/>
              </a:rPr>
              <a:t>西岭市民服务平台 · 复盘汇报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6533999"/>
            <a:ext cx="11376000" cy="7200"/>
          </a:xfrm>
          <a:prstGeom prst="rect">
            <a:avLst/>
          </a:prstGeom>
          <a:solidFill>
            <a:srgbClr val="C8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96000" y="6588000"/>
            <a:ext cx="7920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FDE 政企 AI 落地实战训练营 · 第 3 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0000" y="6588000"/>
            <a:ext cx="1655999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— 3 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" y="1044000"/>
            <a:ext cx="5256000" cy="2664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76000" y="1044000"/>
            <a:ext cx="5256000" cy="2700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20000" y="1080000"/>
            <a:ext cx="4968000" cy="21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客户的表面需求（原话）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1422000"/>
            <a:ext cx="4896000" cy="219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“我们这个平台每天上万个诉求，坐席分派不过来还老分错；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市民问政策坐席也答不准；简单问题和复杂问题混着办效率低。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你们能不能用 AI 把这一整套都智能化了？”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—— 平台中心 · 陈主任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1044000"/>
            <a:ext cx="5364000" cy="2664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28000" y="1044000"/>
            <a:ext cx="5364000" cy="27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72000" y="1080000"/>
            <a:ext cx="5076000" cy="21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我们重新识别的真实问题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8000" y="1422000"/>
            <a:ext cx="5004000" cy="219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不是“上 AI”，而是三个可量化的业务问题：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① 分派不准 → 工单空转、市民重复投诉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② 政策答错 → 坐席与平台承担追责风险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③ 简单件占人力 → 复杂件得不到足够处理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" y="3924000"/>
            <a:ext cx="11016000" cy="2015999"/>
          </a:xfrm>
          <a:prstGeom prst="rect">
            <a:avLst/>
          </a:prstGeom>
          <a:solidFill>
            <a:srgbClr val="FFFFFF"/>
          </a:solidFill>
          <a:ln w="9525">
            <a:solidFill>
              <a:srgbClr val="C8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76000" y="3924000"/>
            <a:ext cx="32400" cy="2015999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92000" y="4050000"/>
            <a:ext cx="10656000" cy="180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复盘发现（当时做得不够的地方）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方向找对了：把“整套智能化”拆成三个可施工的子场景，是正确的一步。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但当时把三者当成三个并列 demo 交付，忽略了它们的业务闭环关系——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62B1F"/>
                </a:solidFill>
                <a:latin typeface="微软雅黑"/>
                <a:ea typeface="微软雅黑"/>
                <a:cs typeface="微软雅黑"/>
              </a:rPr>
              <a:t>分类的结果本应驱动分流，政策证据本应支撑答复；三者分头做，客户拿到的仍是三件工具，而不是一条流水线。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30000"/>
            <a:ext cx="12192119" cy="288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96000" y="108000"/>
            <a:ext cx="7920000" cy="432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 FDE 尺子复盘：八个环节，我们缺在哪一环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151200"/>
            <a:ext cx="3528000" cy="360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C5D3E2"/>
                </a:solidFill>
                <a:latin typeface="微软雅黑"/>
                <a:ea typeface="微软雅黑"/>
                <a:cs typeface="微软雅黑"/>
              </a:rPr>
              <a:t>西岭市民服务平台 · 复盘汇报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6533999"/>
            <a:ext cx="11376000" cy="7200"/>
          </a:xfrm>
          <a:prstGeom prst="rect">
            <a:avLst/>
          </a:prstGeom>
          <a:solidFill>
            <a:srgbClr val="C8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96000" y="6588000"/>
            <a:ext cx="7920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FDE 政企 AI 落地实战训练营 · 第 3 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0000" y="6588000"/>
            <a:ext cx="1655999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— 4 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000" y="1080000"/>
            <a:ext cx="1303200" cy="810000"/>
          </a:xfrm>
          <a:prstGeom prst="rect">
            <a:avLst/>
          </a:prstGeom>
          <a:solidFill>
            <a:srgbClr val="2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29200" y="1134000"/>
            <a:ext cx="1216800" cy="27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office-hours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9200" y="1422000"/>
            <a:ext cx="12168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确认该做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9200" y="1638000"/>
            <a:ext cx="12168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● 做了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9200" y="1314000"/>
            <a:ext cx="108000" cy="288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97199" y="1080000"/>
            <a:ext cx="1303200" cy="81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940400" y="1134000"/>
            <a:ext cx="1216800" cy="27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40400" y="1422000"/>
            <a:ext cx="12168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死磕边界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0400" y="1638000"/>
            <a:ext cx="12168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● 没做透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1314000"/>
            <a:ext cx="108000" cy="288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08400" y="1080000"/>
            <a:ext cx="1303200" cy="810000"/>
          </a:xfrm>
          <a:prstGeom prst="rect">
            <a:avLst/>
          </a:prstGeom>
          <a:solidFill>
            <a:srgbClr val="2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351599" y="1134000"/>
            <a:ext cx="1216800" cy="27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autoplan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1599" y="1422000"/>
            <a:ext cx="12168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决策拍板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1599" y="1638000"/>
            <a:ext cx="12168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● 做了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1600" y="1314000"/>
            <a:ext cx="108000" cy="288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19600" y="1080000"/>
            <a:ext cx="1303200" cy="810000"/>
          </a:xfrm>
          <a:prstGeom prst="rect">
            <a:avLst/>
          </a:prstGeom>
          <a:solidFill>
            <a:srgbClr val="2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762799" y="1134000"/>
            <a:ext cx="1216800" cy="27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2799" y="1422000"/>
            <a:ext cx="12168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做出来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799" y="1638000"/>
            <a:ext cx="12168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● 做了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2800" y="1314000"/>
            <a:ext cx="108000" cy="288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30800" y="1080000"/>
            <a:ext cx="1303200" cy="81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174000" y="1134000"/>
            <a:ext cx="1216800" cy="27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4000" y="1422000"/>
            <a:ext cx="12168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找隐患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4000" y="1638000"/>
            <a:ext cx="12168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● 没做透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34000" y="1314000"/>
            <a:ext cx="108000" cy="288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42000" y="1080000"/>
            <a:ext cx="1303200" cy="810000"/>
          </a:xfrm>
          <a:prstGeom prst="rect">
            <a:avLst/>
          </a:prstGeom>
          <a:solidFill>
            <a:srgbClr val="2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585200" y="1134000"/>
            <a:ext cx="1216800" cy="27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5200" y="1422000"/>
            <a:ext cx="12168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测体验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5200" y="1638000"/>
            <a:ext cx="12168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● 做了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45200" y="1314000"/>
            <a:ext cx="108000" cy="288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53200" y="1080000"/>
            <a:ext cx="1303200" cy="81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996400" y="1134000"/>
            <a:ext cx="1216800" cy="27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6400" y="1422000"/>
            <a:ext cx="12168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收尾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96400" y="1638000"/>
            <a:ext cx="12168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● 没做透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56400" y="1314000"/>
            <a:ext cx="108000" cy="288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64400" y="1080000"/>
            <a:ext cx="1303200" cy="810000"/>
          </a:xfrm>
          <a:prstGeom prst="rect">
            <a:avLst/>
          </a:prstGeom>
          <a:solidFill>
            <a:srgbClr val="2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407600" y="1134000"/>
            <a:ext cx="1216800" cy="27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retro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07600" y="1422000"/>
            <a:ext cx="12168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复盘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07600" y="1638000"/>
            <a:ext cx="12168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● 做了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6000" y="1980000"/>
            <a:ext cx="151200" cy="151200"/>
          </a:xfrm>
          <a:prstGeom prst="rect">
            <a:avLst/>
          </a:prstGeom>
          <a:solidFill>
            <a:srgbClr val="2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66000" y="1987199"/>
            <a:ext cx="1440000" cy="18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做了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55999" y="1980000"/>
            <a:ext cx="151200" cy="151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835999" y="1987199"/>
            <a:ext cx="2160000" cy="18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做了没做透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00" y="2358000"/>
            <a:ext cx="11016000" cy="900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76000" y="2358000"/>
            <a:ext cx="32400" cy="90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92000" y="2466000"/>
            <a:ext cx="10656000" cy="75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三个“没做透”的环节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spec：写了验收口径，但“数据不出域”只作为约束记录，没有上升为硬 Gate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review：查了代码隐患，没有审“生产接管责任”——谁在客户侧接、怎么接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ship：交付材料齐全，但没有客户侧运维交接物，客户无法独立运营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00" y="3384000"/>
            <a:ext cx="11016000" cy="24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576000" y="3384000"/>
            <a:ext cx="32400" cy="2484000"/>
          </a:xfrm>
          <a:prstGeom prst="rect">
            <a:avLst/>
          </a:prstGeom>
          <a:solidFill>
            <a:srgbClr val="A6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792000" y="3528000"/>
            <a:ext cx="10656000" cy="2232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A62B1F"/>
                </a:solidFill>
                <a:latin typeface="微软雅黑"/>
                <a:ea typeface="微软雅黑"/>
                <a:cs typeface="微软雅黑"/>
              </a:rPr>
              <a:t>最致命的缺口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spec 阶段没有把“生产化条件”写成硬 Gate。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后果：三个 demo 都停在演示级。验收达标 = 演示可行，但客户无法接管、无法独立运营——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这正是 FDE 与“外包交付”的分水岭：交付物不是“能演示的系统”，而是“客户能接住的能力”。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如果重来一次：在 spec 就写死——本地化部署完成、人工接管岗位到人、真实脱敏数据复测通过，三项齐备才允许进入 build。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30000"/>
            <a:ext cx="12192119" cy="288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96000" y="108000"/>
            <a:ext cx="7920000" cy="432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5. 证据与假设：哪些已证实，哪些仍是假设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151200"/>
            <a:ext cx="3528000" cy="360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C5D3E2"/>
                </a:solidFill>
                <a:latin typeface="微软雅黑"/>
                <a:ea typeface="微软雅黑"/>
                <a:cs typeface="微软雅黑"/>
              </a:rPr>
              <a:t>西岭市民服务平台 · 复盘汇报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6533999"/>
            <a:ext cx="11376000" cy="7200"/>
          </a:xfrm>
          <a:prstGeom prst="rect">
            <a:avLst/>
          </a:prstGeom>
          <a:solidFill>
            <a:srgbClr val="C8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96000" y="6588000"/>
            <a:ext cx="7920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FDE 政企 AI 落地实战训练营 · 第 3 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0000" y="6588000"/>
            <a:ext cx="1655999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— 5 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" y="1044000"/>
            <a:ext cx="5256000" cy="4536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76000" y="1044000"/>
            <a:ext cx="5256000" cy="288000"/>
          </a:xfrm>
          <a:prstGeom prst="rect">
            <a:avLst/>
          </a:prstGeom>
          <a:solidFill>
            <a:srgbClr val="2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20000" y="1080000"/>
            <a:ext cx="4968000" cy="234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已有证据（可对外）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440000"/>
            <a:ext cx="827999" cy="251999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E6B3A"/>
                </a:solidFill>
                <a:latin typeface="微软雅黑"/>
                <a:ea typeface="微软雅黑"/>
                <a:cs typeface="微软雅黑"/>
              </a:rPr>
              <a:t>已实测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8000" y="1418400"/>
            <a:ext cx="4140000" cy="54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25 条测试样本上分类准确率达标（演示级）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2142000"/>
            <a:ext cx="827999" cy="251999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E6B3A"/>
                </a:solidFill>
                <a:latin typeface="微软雅黑"/>
                <a:ea typeface="微软雅黑"/>
                <a:cs typeface="微软雅黑"/>
              </a:rPr>
              <a:t>已实测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8000" y="2120400"/>
            <a:ext cx="4140000" cy="54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政策问答双指标：答案准确率 + 来源可追溯率达标（演示级）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2844000"/>
            <a:ext cx="827999" cy="251999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E6B3A"/>
                </a:solidFill>
                <a:latin typeface="微软雅黑"/>
                <a:ea typeface="微软雅黑"/>
                <a:cs typeface="微软雅黑"/>
              </a:rPr>
              <a:t>已实测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8000" y="2822400"/>
            <a:ext cx="4140000" cy="54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工单分流三路走通，敏感件零漏判（6 份样本）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546000"/>
            <a:ext cx="827999" cy="251999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客户确认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8000" y="3524399"/>
            <a:ext cx="4140000" cy="54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五类诉求类别清单由客户方确认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248000"/>
            <a:ext cx="827999" cy="251999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客户确认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8000" y="4226400"/>
            <a:ext cx="4140000" cy="54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部门职责库由信息中心提供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8000" y="1044000"/>
            <a:ext cx="5364000" cy="4536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28000" y="1044000"/>
            <a:ext cx="5364000" cy="288000"/>
          </a:xfrm>
          <a:prstGeom prst="rect">
            <a:avLst/>
          </a:prstGeom>
          <a:solidFill>
            <a:srgbClr val="A6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72000" y="1080000"/>
            <a:ext cx="5076000" cy="234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仍是假设（不得说成已验证）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2000" y="1440000"/>
            <a:ext cx="1044000" cy="251999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A62B1F"/>
                </a:solidFill>
                <a:latin typeface="微软雅黑"/>
                <a:ea typeface="微软雅黑"/>
                <a:cs typeface="微软雅黑"/>
              </a:rPr>
              <a:t>当前假设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6000" y="1418400"/>
            <a:ext cx="4068000" cy="54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1.2 万件/日真实诉求分布下，准确率仍达标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2000" y="2142000"/>
            <a:ext cx="1044000" cy="251999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A62B1F"/>
                </a:solidFill>
                <a:latin typeface="微软雅黑"/>
                <a:ea typeface="微软雅黑"/>
                <a:cs typeface="微软雅黑"/>
              </a:rPr>
              <a:t>当前假设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6000" y="2120400"/>
            <a:ext cx="4068000" cy="54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政策库扩至全量后，来源可追溯率不下降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2000" y="2844000"/>
            <a:ext cx="1044000" cy="251999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A62B1F"/>
                </a:solidFill>
                <a:latin typeface="微软雅黑"/>
                <a:ea typeface="微软雅黑"/>
                <a:cs typeface="微软雅黑"/>
              </a:rPr>
              <a:t>待获取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6000" y="2822400"/>
            <a:ext cx="4068000" cy="54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本地化部署的模型选型、成本与工期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2000" y="3546000"/>
            <a:ext cx="1044000" cy="251999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A62B1F"/>
                </a:solidFill>
                <a:latin typeface="微软雅黑"/>
                <a:ea typeface="微软雅黑"/>
                <a:cs typeface="微软雅黑"/>
              </a:rPr>
              <a:t>待获取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6000" y="3524399"/>
            <a:ext cx="4068000" cy="54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坐席实际接受度与使用行为数据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2000" y="4248000"/>
            <a:ext cx="1044000" cy="251999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A62B1F"/>
                </a:solidFill>
                <a:latin typeface="微软雅黑"/>
                <a:ea typeface="微软雅黑"/>
                <a:cs typeface="微软雅黑"/>
              </a:rPr>
              <a:t>待获取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6000" y="4226400"/>
            <a:ext cx="4068000" cy="54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客户侧人工接管的岗位与流程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00" y="5724000"/>
            <a:ext cx="11016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92000" y="5796000"/>
            <a:ext cx="10656000" cy="57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一句话结论：现有证据支持“方向成立”，但不支持“生产可用”；把假设当结论，是复盘最容易翻车的地方。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30000"/>
            <a:ext cx="12192119" cy="288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96000" y="108000"/>
            <a:ext cx="7920000" cy="432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 能力回注：这个项目里，什么能沉淀成平台能力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151200"/>
            <a:ext cx="3528000" cy="360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C5D3E2"/>
                </a:solidFill>
                <a:latin typeface="微软雅黑"/>
                <a:ea typeface="微软雅黑"/>
                <a:cs typeface="微软雅黑"/>
              </a:rPr>
              <a:t>西岭市民服务平台 · 复盘汇报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6533999"/>
            <a:ext cx="11376000" cy="7200"/>
          </a:xfrm>
          <a:prstGeom prst="rect">
            <a:avLst/>
          </a:prstGeom>
          <a:solidFill>
            <a:srgbClr val="C8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96000" y="6588000"/>
            <a:ext cx="7920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FDE 政企 AI 落地实战训练营 · 第 3 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0000" y="6588000"/>
            <a:ext cx="1655999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— 6 —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00" y="1116000"/>
          <a:ext cx="11016000" cy="254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/>
                <a:gridCol w="3096000"/>
                <a:gridCol w="936000"/>
                <a:gridCol w="4320000"/>
              </a:tblGrid>
              <a:tr h="4248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客户特定实现（不回注）</a:t>
                      </a:r>
                    </a:p>
                  </a:txBody>
                  <a:tcPr marL="90000" marR="90000" marT="21600" marB="2160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抽象后的通用能力</a:t>
                      </a:r>
                    </a:p>
                  </a:txBody>
                  <a:tcPr marL="90000" marR="90000" marT="21600" marB="2160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层次</a:t>
                      </a:r>
                    </a:p>
                  </a:txBody>
                  <a:tcPr marL="90000" marR="90000" marT="21600" marB="2160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可复用场景</a:t>
                      </a:r>
                    </a:p>
                  </a:txBody>
                  <a:tcPr marL="90000" marR="90000" marT="21600" marB="21600" anchor="ctr">
                    <a:solidFill>
                      <a:srgbClr val="1B3A5C"/>
                    </a:solidFill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市民诉求五分类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类别可配置的文本分类器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银行工单 / 医院投诉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西岭 5 份政策问答</a:t>
                      </a:r>
                    </a:p>
                  </a:txBody>
                  <a:tcPr marL="90000" marR="90000" marT="21600" marB="216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带来源的检索问答契约</a:t>
                      </a:r>
                    </a:p>
                  </a:txBody>
                  <a:tcPr marL="90000" marR="90000" marT="21600" marB="216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</a:t>
                      </a:r>
                    </a:p>
                  </a:txBody>
                  <a:tcPr marL="90000" marR="90000" marT="21600" marB="216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合规问答 / 制度查询</a:t>
                      </a:r>
                    </a:p>
                  </a:txBody>
                  <a:tcPr marL="90000" marR="90000" marT="21600" marB="21600" anchor="ctr">
                    <a:solidFill>
                      <a:srgbClr val="F2F5F8"/>
                    </a:solidFill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工单三档分流规则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可配置固定路由工作流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机制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各类审批分流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敏感件转人工规则</a:t>
                      </a:r>
                    </a:p>
                  </a:txBody>
                  <a:tcPr marL="90000" marR="90000" marT="21600" marB="216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高风险人工兜底机制</a:t>
                      </a:r>
                    </a:p>
                  </a:txBody>
                  <a:tcPr marL="90000" marR="90000" marT="21600" marB="216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机制</a:t>
                      </a:r>
                    </a:p>
                  </a:txBody>
                  <a:tcPr marL="90000" marR="90000" marT="21600" marB="216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风控审批 / 安全事件</a:t>
                      </a:r>
                    </a:p>
                  </a:txBody>
                  <a:tcPr marL="90000" marR="90000" marT="21600" marB="21600" anchor="ctr">
                    <a:solidFill>
                      <a:srgbClr val="F2F5F8"/>
                    </a:solidFill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诉求—政策—部门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政务业务语义模型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语义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其他城市政务热线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76000" y="3924000"/>
            <a:ext cx="11016000" cy="194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76000" y="3924000"/>
            <a:ext cx="32400" cy="1944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2000" y="4050000"/>
            <a:ext cx="10656000" cy="1728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回注优先级建议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优先铺“人工兜底机制”与“可配置分类器”——前者三个场景共用、换个客户零改动；后者复用面最广、成本最低。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业务语义模型价值最高但周期最长，建议作为下一阶段平台专项。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判断标准：换个客户，这东西要不要全改？要改=内容（不回注），不用改=机制（回注）。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30000"/>
            <a:ext cx="12192119" cy="288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96000" y="108000"/>
            <a:ext cx="7920000" cy="432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 下一步决策：有条件推进（Conditional Go）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151200"/>
            <a:ext cx="3528000" cy="360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C5D3E2"/>
                </a:solidFill>
                <a:latin typeface="微软雅黑"/>
                <a:ea typeface="微软雅黑"/>
                <a:cs typeface="微软雅黑"/>
              </a:rPr>
              <a:t>西岭市民服务平台 · 复盘汇报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6533999"/>
            <a:ext cx="11376000" cy="7200"/>
          </a:xfrm>
          <a:prstGeom prst="rect">
            <a:avLst/>
          </a:prstGeom>
          <a:solidFill>
            <a:srgbClr val="C8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96000" y="6588000"/>
            <a:ext cx="7920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FDE 政企 AI 落地实战训练营 · 第 3 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0000" y="6588000"/>
            <a:ext cx="1655999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— 7 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" y="1044000"/>
            <a:ext cx="11016000" cy="90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92000" y="1098000"/>
            <a:ext cx="10656000" cy="792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2C05"/>
                </a:solidFill>
                <a:latin typeface="微软雅黑"/>
                <a:ea typeface="微软雅黑"/>
                <a:cs typeface="微软雅黑"/>
              </a:rPr>
              <a:t>决　策：Conditional Go —— 三个场景方向成立，可推进；但须先满足下列三项条件，方可转为 Go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6000" y="2052000"/>
          <a:ext cx="11016000" cy="30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9216000"/>
              </a:tblGrid>
              <a:tr h="511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要素</a:t>
                      </a:r>
                    </a:p>
                  </a:txBody>
                  <a:tcPr marL="100800" marR="100800" marT="21600" marB="2160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100800" marR="100800" marT="21600" marB="21600" anchor="ctr">
                    <a:solidFill>
                      <a:srgbClr val="1B3A5C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3A5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依据证据</a:t>
                      </a:r>
                    </a:p>
                  </a:txBody>
                  <a:tcPr marL="100800" marR="100800" marT="21600" marB="216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演示级验收达标（分类 / RAG 双指标 / 路由零漏判）；业务价值方向经客户确认</a:t>
                      </a:r>
                    </a:p>
                  </a:txBody>
                  <a:tcPr marL="100800" marR="100800" marT="21600" marB="21600" anchor="ctr">
                    <a:solidFill>
                      <a:srgbClr val="FFFFFF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3A5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先行条件</a:t>
                      </a:r>
                    </a:p>
                  </a:txBody>
                  <a:tcPr marL="100800" marR="100800" marT="21600" marB="216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完成本地化部署验证　② 明确人工接管岗位到人　③ 用真实脱敏数据复测</a:t>
                      </a:r>
                    </a:p>
                  </a:txBody>
                  <a:tcPr marL="100800" marR="100800" marT="21600" marB="21600" anchor="ctr">
                    <a:solidFill>
                      <a:srgbClr val="FFFFFF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3A5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剩余风险</a:t>
                      </a:r>
                    </a:p>
                  </a:txBody>
                  <a:tcPr marL="100800" marR="100800" marT="21600" marB="216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真实分布下准确率未知；客户侧运维能力未确认；数据出域方案待信息中心确认</a:t>
                      </a:r>
                    </a:p>
                  </a:txBody>
                  <a:tcPr marL="100800" marR="100800" marT="21600" marB="21600" anchor="ctr">
                    <a:solidFill>
                      <a:srgbClr val="FFFFFF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3A5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补齐责任人</a:t>
                      </a:r>
                    </a:p>
                  </a:txBody>
                  <a:tcPr marL="100800" marR="100800" marT="21600" marB="216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信息中心 李工（技术接管）/ 平台中心 陈主任（业务验收）/ 承建方（部署实施）</a:t>
                      </a:r>
                    </a:p>
                  </a:txBody>
                  <a:tcPr marL="100800" marR="100800" marT="21600" marB="21600" anchor="ctr">
                    <a:solidFill>
                      <a:srgbClr val="FFFFFF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3A5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下一 Gate</a:t>
                      </a:r>
                    </a:p>
                  </a:txBody>
                  <a:tcPr marL="100800" marR="100800" marT="21600" marB="216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本地化部署 + 真实数据复测通过后，组织一次评审，转 Go 或调整范围</a:t>
                      </a:r>
                    </a:p>
                  </a:txBody>
                  <a:tcPr marL="100800" marR="1008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76000" y="5292000"/>
            <a:ext cx="11016000" cy="1007999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76000" y="5292000"/>
            <a:ext cx="32400" cy="1007999"/>
          </a:xfrm>
          <a:prstGeom prst="rect">
            <a:avLst/>
          </a:prstGeom>
          <a:solidFill>
            <a:srgbClr val="A6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92000" y="5400000"/>
            <a:ext cx="10656000" cy="827999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62B1F"/>
                </a:solidFill>
                <a:latin typeface="微软雅黑"/>
                <a:ea typeface="微软雅黑"/>
                <a:cs typeface="微软雅黑"/>
              </a:rPr>
              <a:t>什么证据出现会让我们改判？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→ 真实数据复测准确率显著低于演示水平，或本地化部署成本超出预算，则改判为 Continue Pilot 或 No-Go。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30000"/>
            <a:ext cx="12192119" cy="288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96000" y="108000"/>
            <a:ext cx="7920000" cy="432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8. 需要决策层支持的事项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151200"/>
            <a:ext cx="3528000" cy="360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C5D3E2"/>
                </a:solidFill>
                <a:latin typeface="微软雅黑"/>
                <a:ea typeface="微软雅黑"/>
                <a:cs typeface="微软雅黑"/>
              </a:rPr>
              <a:t>西岭市民服务平台 · 复盘汇报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6533999"/>
            <a:ext cx="11376000" cy="7200"/>
          </a:xfrm>
          <a:prstGeom prst="rect">
            <a:avLst/>
          </a:prstGeom>
          <a:solidFill>
            <a:srgbClr val="C8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96000" y="6588000"/>
            <a:ext cx="7920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FDE 政企 AI 落地实战训练营 · 第 3 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0000" y="6588000"/>
            <a:ext cx="1655999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C8F"/>
                </a:solidFill>
                <a:latin typeface="微软雅黑"/>
                <a:ea typeface="微软雅黑"/>
                <a:cs typeface="微软雅黑"/>
              </a:rPr>
              <a:t>— 8 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" y="1152000"/>
            <a:ext cx="11016000" cy="54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92000" y="1206000"/>
            <a:ext cx="10656000" cy="432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请求决策层批准以下三项，作为转入下一阶段的前置条件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00" y="1908000"/>
            <a:ext cx="11016000" cy="936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76000" y="1908000"/>
            <a:ext cx="540000" cy="936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6000" y="2178000"/>
            <a:ext cx="540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3A2C05"/>
                </a:solidFill>
                <a:latin typeface="微软雅黑"/>
                <a:ea typeface="微软雅黑"/>
                <a:cs typeface="微软雅黑"/>
              </a:rPr>
              <a:t>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0000" y="2033999"/>
            <a:ext cx="10152000" cy="684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本地化部署资源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服务器与部署实施人力，用于验证数据不出域的硬约束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" y="2934000"/>
            <a:ext cx="11016000" cy="936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76000" y="2934000"/>
            <a:ext cx="540000" cy="936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00" y="3204000"/>
            <a:ext cx="540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3A2C05"/>
                </a:solidFill>
                <a:latin typeface="微软雅黑"/>
                <a:ea typeface="微软雅黑"/>
                <a:cs typeface="微软雅黑"/>
              </a:rPr>
              <a:t>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0000" y="3060000"/>
            <a:ext cx="10152000" cy="684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真实脱敏数据使用授权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经信息中心与市数据局批准，用于生产分布下的复测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00" y="3960000"/>
            <a:ext cx="11016000" cy="936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76000" y="3960000"/>
            <a:ext cx="540000" cy="936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76000" y="4230000"/>
            <a:ext cx="540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3A2C05"/>
                </a:solidFill>
                <a:latin typeface="微软雅黑"/>
                <a:ea typeface="微软雅黑"/>
                <a:cs typeface="微软雅黑"/>
              </a:rPr>
              <a:t>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0000" y="4086000"/>
            <a:ext cx="10152000" cy="684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人工接管岗位落实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明确客户侧接管岗位与流程，确保敏感件有人接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" y="5148000"/>
            <a:ext cx="11016000" cy="11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92000" y="5256000"/>
            <a:ext cx="10656000" cy="972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我们的承诺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在获得上述支持后 N 周内，提交本地化部署验证报告与真实数据复测结果；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所有结论仅覆盖取得的证据范围，不夸大交付成果。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